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1a41d425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1a41d425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a41d4257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a41d4257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a41d4257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1a41d4257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a41d4257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1a41d4257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1a82a7631f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1a82a7631f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9e3216c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9e3216c4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a82a7631f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a82a7631f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a82a7631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1a82a7631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a82a7631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a82a7631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a82a763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1a82a763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1aaefba34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1aaefba34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compare the algorithms side-by-side: f</a:t>
            </a:r>
            <a:r>
              <a:rPr lang="en">
                <a:solidFill>
                  <a:schemeClr val="dk1"/>
                </a:solidFill>
              </a:rPr>
              <a:t>or Prim, you start at any vertex, for example “a.” Then you choose the smallest edge to continue the tree: in this case, we compare a-&gt;b vs a-&gt;h. Since 4 is less than 8, then we go to b. And repeat the process, 8 is smaller than 11, so next we would go to c. Keep going until all vertices are visited. This is similar to Dijkstra algorithm that we previously learned.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for Kruskal, you start with the vertex with the lowest weight edge, which in this case is 1. Then you look for the next lowest weight, which is 2. There are two of them, we can choose any as long as it doesn’t form a cycle. So here we choose i-&gt;c. Next we choose g-&gt;f. And so on until all vertices are visited.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1aaefba34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1aaefba34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Based on this mechanism, Prim is more suited for dense graphs whereas Kruskal is better for sparse graphs. Compared to a sparse graph, a dense graph has the same number of vertices but more edges, as shown in these pictures. This is because Kruskal needs to sort all edges by weight, so if the graph is dense, then that takes more complexity. Whereas for Prim, at each step you just choose the optimal solution, then you never have to revisit those edges again, much more efficient.</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1aaefba34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1aaefba34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Prim uses priority queue min-heap which we all know about — represented by a tree where each parent is smaller than its children — while kruskal uses union-find, which tracks which vertices are in the same connected component so that we can detect and avoid cycles. Runtime depends a lot on what data structure is used, for example can also use a fibonacci-heap for Prim. But to keep things simple, it is about the same on average.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19e3216c4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19e3216c4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summarize the main idea, the minimum spanning tree has a literal name describing what it is. It’s a tree connecting all vertices using the minimum cost. </a:t>
            </a:r>
            <a:r>
              <a:rPr lang="en">
                <a:solidFill>
                  <a:schemeClr val="dk1"/>
                </a:solidFill>
              </a:rPr>
              <a:t>There are several algorithms to find this tree given an undirected weighted graph. </a:t>
            </a:r>
            <a:r>
              <a:rPr lang="en"/>
              <a:t>They are</a:t>
            </a:r>
            <a:r>
              <a:rPr lang="en"/>
              <a:t> greedy algorithm in that obtaining the local solution at each step becomes part of the overall global solution.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19e3216c4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19e3216c4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1a41d4257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1a41d4257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en.wikipedia.org/wiki/Bor%C5%AFvka%27s_algorithm" TargetMode="External"/><Relationship Id="rId4" Type="http://schemas.openxmlformats.org/officeDocument/2006/relationships/hyperlink" Target="https://personal.utdallas.edu/~besp/teaching/mst-applications.pdf" TargetMode="External"/><Relationship Id="rId9" Type="http://schemas.openxmlformats.org/officeDocument/2006/relationships/hyperlink" Target="https://www.researchgate.net/figure/Two-different-graph-topologies-of-a-network-of-15-nodes-a-dense-and-b-sparse_fig1_305869701" TargetMode="External"/><Relationship Id="rId5" Type="http://schemas.openxmlformats.org/officeDocument/2006/relationships/hyperlink" Target="https://en.wikipedia.org/wiki/Minimum_spanning_tree" TargetMode="External"/><Relationship Id="rId6" Type="http://schemas.openxmlformats.org/officeDocument/2006/relationships/hyperlink" Target="https://www.cs.mun.ca/~kol/courses/6901-f16/boruvka-nmn.pdf" TargetMode="External"/><Relationship Id="rId7" Type="http://schemas.openxmlformats.org/officeDocument/2006/relationships/hyperlink" Target="https://www.researchgate.net/publication/264916066_Modern_applications_of_graph_theory" TargetMode="External"/><Relationship Id="rId8" Type="http://schemas.openxmlformats.org/officeDocument/2006/relationships/hyperlink" Target="https://www.geeksforgeeks.org/difference-between-prims-and-kruskals-algorithm-for-ms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Minimum Spanning Trees</a:t>
            </a:r>
            <a:endParaRPr>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110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50">
                <a:latin typeface="Times New Roman"/>
                <a:ea typeface="Times New Roman"/>
                <a:cs typeface="Times New Roman"/>
                <a:sym typeface="Times New Roman"/>
              </a:rPr>
              <a:t>Group 3</a:t>
            </a:r>
            <a:endParaRPr sz="2350">
              <a:latin typeface="Times New Roman"/>
              <a:ea typeface="Times New Roman"/>
              <a:cs typeface="Times New Roman"/>
              <a:sym typeface="Times New Roman"/>
            </a:endParaRPr>
          </a:p>
          <a:p>
            <a:pPr indent="0" lvl="0" marL="0" rtl="0" algn="ctr">
              <a:spcBef>
                <a:spcPts val="0"/>
              </a:spcBef>
              <a:spcAft>
                <a:spcPts val="0"/>
              </a:spcAft>
              <a:buNone/>
            </a:pPr>
            <a:r>
              <a:rPr lang="en" sz="2350">
                <a:latin typeface="Times New Roman"/>
                <a:ea typeface="Times New Roman"/>
                <a:cs typeface="Times New Roman"/>
                <a:sym typeface="Times New Roman"/>
              </a:rPr>
              <a:t>Baris Senzeybek, Ellis Chang, Michael Kwok</a:t>
            </a:r>
            <a:endParaRPr sz="2350">
              <a:latin typeface="Times New Roman"/>
              <a:ea typeface="Times New Roman"/>
              <a:cs typeface="Times New Roman"/>
              <a:sym typeface="Times New Roman"/>
            </a:endParaRPr>
          </a:p>
          <a:p>
            <a:pPr indent="0" lvl="0" marL="0" rtl="0" algn="ctr">
              <a:spcBef>
                <a:spcPts val="0"/>
              </a:spcBef>
              <a:spcAft>
                <a:spcPts val="0"/>
              </a:spcAft>
              <a:buNone/>
            </a:pPr>
            <a:r>
              <a:t/>
            </a:r>
            <a:endParaRPr sz="235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1023925" y="33325"/>
            <a:ext cx="7096125" cy="5076825"/>
          </a:xfrm>
          <a:prstGeom prst="rect">
            <a:avLst/>
          </a:prstGeom>
          <a:noFill/>
          <a:ln>
            <a:noFill/>
          </a:ln>
        </p:spPr>
      </p:pic>
      <p:sp>
        <p:nvSpPr>
          <p:cNvPr id="63" name="Google Shape;63;p14"/>
          <p:cNvSpPr/>
          <p:nvPr/>
        </p:nvSpPr>
        <p:spPr>
          <a:xfrm>
            <a:off x="7462775" y="117425"/>
            <a:ext cx="657300" cy="106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4"/>
          <p:cNvSpPr/>
          <p:nvPr/>
        </p:nvSpPr>
        <p:spPr>
          <a:xfrm>
            <a:off x="757425" y="4403675"/>
            <a:ext cx="7198500" cy="739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1" name="Google Shape;71;p15"/>
          <p:cNvPicPr preferRelativeResize="0"/>
          <p:nvPr/>
        </p:nvPicPr>
        <p:blipFill>
          <a:blip r:embed="rId3">
            <a:alphaModFix/>
          </a:blip>
          <a:stretch>
            <a:fillRect/>
          </a:stretch>
        </p:blipFill>
        <p:spPr>
          <a:xfrm>
            <a:off x="4073775" y="1460270"/>
            <a:ext cx="4372826" cy="2508900"/>
          </a:xfrm>
          <a:prstGeom prst="rect">
            <a:avLst/>
          </a:prstGeom>
          <a:noFill/>
          <a:ln>
            <a:noFill/>
          </a:ln>
        </p:spPr>
      </p:pic>
      <p:pic>
        <p:nvPicPr>
          <p:cNvPr id="72" name="Google Shape;72;p15"/>
          <p:cNvPicPr preferRelativeResize="0"/>
          <p:nvPr/>
        </p:nvPicPr>
        <p:blipFill>
          <a:blip r:embed="rId4">
            <a:alphaModFix/>
          </a:blip>
          <a:stretch>
            <a:fillRect/>
          </a:stretch>
        </p:blipFill>
        <p:spPr>
          <a:xfrm>
            <a:off x="725575" y="1162150"/>
            <a:ext cx="2266950" cy="3105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79" name="Google Shape;79;p16"/>
          <p:cNvSpPr/>
          <p:nvPr/>
        </p:nvSpPr>
        <p:spPr>
          <a:xfrm>
            <a:off x="1921075" y="1003700"/>
            <a:ext cx="4686900" cy="3461750"/>
          </a:xfrm>
          <a:custGeom>
            <a:rect b="b" l="l" r="r" t="t"/>
            <a:pathLst>
              <a:path extrusionOk="0" h="138470" w="187476">
                <a:moveTo>
                  <a:pt x="7453" y="108704"/>
                </a:moveTo>
                <a:lnTo>
                  <a:pt x="7453" y="107609"/>
                </a:lnTo>
                <a:lnTo>
                  <a:pt x="7072" y="106466"/>
                </a:lnTo>
                <a:lnTo>
                  <a:pt x="4929" y="105465"/>
                </a:lnTo>
                <a:lnTo>
                  <a:pt x="4096" y="105132"/>
                </a:lnTo>
                <a:lnTo>
                  <a:pt x="4477" y="104418"/>
                </a:lnTo>
                <a:lnTo>
                  <a:pt x="5072" y="104346"/>
                </a:lnTo>
                <a:lnTo>
                  <a:pt x="4762" y="103013"/>
                </a:lnTo>
                <a:lnTo>
                  <a:pt x="3191" y="102751"/>
                </a:lnTo>
                <a:lnTo>
                  <a:pt x="2762" y="101322"/>
                </a:lnTo>
                <a:lnTo>
                  <a:pt x="4048" y="101655"/>
                </a:lnTo>
                <a:lnTo>
                  <a:pt x="5405" y="101489"/>
                </a:lnTo>
                <a:lnTo>
                  <a:pt x="5334" y="100465"/>
                </a:lnTo>
                <a:lnTo>
                  <a:pt x="4072" y="99536"/>
                </a:lnTo>
                <a:lnTo>
                  <a:pt x="4167" y="98250"/>
                </a:lnTo>
                <a:lnTo>
                  <a:pt x="5048" y="97441"/>
                </a:lnTo>
                <a:lnTo>
                  <a:pt x="4643" y="96012"/>
                </a:lnTo>
                <a:lnTo>
                  <a:pt x="3429" y="95107"/>
                </a:lnTo>
                <a:lnTo>
                  <a:pt x="3500" y="93321"/>
                </a:lnTo>
                <a:lnTo>
                  <a:pt x="3238" y="92631"/>
                </a:lnTo>
                <a:lnTo>
                  <a:pt x="2810" y="91749"/>
                </a:lnTo>
                <a:lnTo>
                  <a:pt x="1929" y="91035"/>
                </a:lnTo>
                <a:lnTo>
                  <a:pt x="1405" y="91059"/>
                </a:lnTo>
                <a:lnTo>
                  <a:pt x="571" y="92130"/>
                </a:lnTo>
                <a:lnTo>
                  <a:pt x="833" y="93393"/>
                </a:lnTo>
                <a:lnTo>
                  <a:pt x="0" y="92821"/>
                </a:lnTo>
                <a:lnTo>
                  <a:pt x="24" y="91535"/>
                </a:lnTo>
                <a:lnTo>
                  <a:pt x="714" y="91059"/>
                </a:lnTo>
                <a:lnTo>
                  <a:pt x="929" y="89940"/>
                </a:lnTo>
                <a:lnTo>
                  <a:pt x="1857" y="89154"/>
                </a:lnTo>
                <a:lnTo>
                  <a:pt x="3405" y="89392"/>
                </a:lnTo>
                <a:lnTo>
                  <a:pt x="4143" y="89106"/>
                </a:lnTo>
                <a:lnTo>
                  <a:pt x="4286" y="88440"/>
                </a:lnTo>
                <a:lnTo>
                  <a:pt x="3691" y="87916"/>
                </a:lnTo>
                <a:lnTo>
                  <a:pt x="3691" y="87297"/>
                </a:lnTo>
                <a:lnTo>
                  <a:pt x="3096" y="86987"/>
                </a:lnTo>
                <a:lnTo>
                  <a:pt x="3834" y="86392"/>
                </a:lnTo>
                <a:lnTo>
                  <a:pt x="4691" y="86725"/>
                </a:lnTo>
                <a:lnTo>
                  <a:pt x="5810" y="87201"/>
                </a:lnTo>
                <a:lnTo>
                  <a:pt x="6406" y="87249"/>
                </a:lnTo>
                <a:lnTo>
                  <a:pt x="6477" y="86225"/>
                </a:lnTo>
                <a:lnTo>
                  <a:pt x="6596" y="85011"/>
                </a:lnTo>
                <a:lnTo>
                  <a:pt x="6882" y="84820"/>
                </a:lnTo>
                <a:lnTo>
                  <a:pt x="8358" y="85153"/>
                </a:lnTo>
                <a:lnTo>
                  <a:pt x="9596" y="84987"/>
                </a:lnTo>
                <a:lnTo>
                  <a:pt x="9930" y="84534"/>
                </a:lnTo>
                <a:lnTo>
                  <a:pt x="9715" y="83082"/>
                </a:lnTo>
                <a:lnTo>
                  <a:pt x="10168" y="81939"/>
                </a:lnTo>
                <a:lnTo>
                  <a:pt x="11311" y="81891"/>
                </a:lnTo>
                <a:lnTo>
                  <a:pt x="11930" y="81677"/>
                </a:lnTo>
                <a:lnTo>
                  <a:pt x="11740" y="80748"/>
                </a:lnTo>
                <a:lnTo>
                  <a:pt x="11573" y="80296"/>
                </a:lnTo>
                <a:lnTo>
                  <a:pt x="11025" y="80034"/>
                </a:lnTo>
                <a:lnTo>
                  <a:pt x="10454" y="79915"/>
                </a:lnTo>
                <a:lnTo>
                  <a:pt x="11359" y="79748"/>
                </a:lnTo>
                <a:lnTo>
                  <a:pt x="12097" y="79986"/>
                </a:lnTo>
                <a:lnTo>
                  <a:pt x="12502" y="80700"/>
                </a:lnTo>
                <a:lnTo>
                  <a:pt x="12787" y="81582"/>
                </a:lnTo>
                <a:lnTo>
                  <a:pt x="13645" y="81320"/>
                </a:lnTo>
                <a:lnTo>
                  <a:pt x="14097" y="80581"/>
                </a:lnTo>
                <a:lnTo>
                  <a:pt x="14668" y="80105"/>
                </a:lnTo>
                <a:lnTo>
                  <a:pt x="15145" y="79462"/>
                </a:lnTo>
                <a:lnTo>
                  <a:pt x="15907" y="79367"/>
                </a:lnTo>
                <a:lnTo>
                  <a:pt x="17169" y="78915"/>
                </a:lnTo>
                <a:lnTo>
                  <a:pt x="17716" y="78319"/>
                </a:lnTo>
                <a:lnTo>
                  <a:pt x="18002" y="77581"/>
                </a:lnTo>
                <a:lnTo>
                  <a:pt x="17812" y="76462"/>
                </a:lnTo>
                <a:lnTo>
                  <a:pt x="17574" y="75319"/>
                </a:lnTo>
                <a:lnTo>
                  <a:pt x="18383" y="73985"/>
                </a:lnTo>
                <a:lnTo>
                  <a:pt x="19526" y="73200"/>
                </a:lnTo>
                <a:lnTo>
                  <a:pt x="21026" y="72699"/>
                </a:lnTo>
                <a:lnTo>
                  <a:pt x="22455" y="72557"/>
                </a:lnTo>
                <a:lnTo>
                  <a:pt x="23717" y="72676"/>
                </a:lnTo>
                <a:lnTo>
                  <a:pt x="24265" y="73342"/>
                </a:lnTo>
                <a:lnTo>
                  <a:pt x="25194" y="73747"/>
                </a:lnTo>
                <a:lnTo>
                  <a:pt x="25551" y="73461"/>
                </a:lnTo>
                <a:lnTo>
                  <a:pt x="25503" y="72914"/>
                </a:lnTo>
                <a:lnTo>
                  <a:pt x="25217" y="72533"/>
                </a:lnTo>
                <a:lnTo>
                  <a:pt x="25432" y="71890"/>
                </a:lnTo>
                <a:lnTo>
                  <a:pt x="26075" y="71509"/>
                </a:lnTo>
                <a:lnTo>
                  <a:pt x="26932" y="71795"/>
                </a:lnTo>
                <a:lnTo>
                  <a:pt x="28480" y="71747"/>
                </a:lnTo>
                <a:lnTo>
                  <a:pt x="28980" y="71175"/>
                </a:lnTo>
                <a:lnTo>
                  <a:pt x="28861" y="70628"/>
                </a:lnTo>
                <a:lnTo>
                  <a:pt x="28408" y="70294"/>
                </a:lnTo>
                <a:lnTo>
                  <a:pt x="28789" y="70009"/>
                </a:lnTo>
                <a:lnTo>
                  <a:pt x="29385" y="70223"/>
                </a:lnTo>
                <a:lnTo>
                  <a:pt x="29504" y="70961"/>
                </a:lnTo>
                <a:lnTo>
                  <a:pt x="29980" y="71390"/>
                </a:lnTo>
                <a:lnTo>
                  <a:pt x="30623" y="70842"/>
                </a:lnTo>
                <a:lnTo>
                  <a:pt x="31075" y="70342"/>
                </a:lnTo>
                <a:lnTo>
                  <a:pt x="31861" y="69913"/>
                </a:lnTo>
                <a:lnTo>
                  <a:pt x="32647" y="69937"/>
                </a:lnTo>
                <a:lnTo>
                  <a:pt x="33433" y="70032"/>
                </a:lnTo>
                <a:lnTo>
                  <a:pt x="34385" y="69818"/>
                </a:lnTo>
                <a:lnTo>
                  <a:pt x="35242" y="69532"/>
                </a:lnTo>
                <a:lnTo>
                  <a:pt x="35409" y="69128"/>
                </a:lnTo>
                <a:lnTo>
                  <a:pt x="35457" y="68604"/>
                </a:lnTo>
                <a:lnTo>
                  <a:pt x="36957" y="68485"/>
                </a:lnTo>
                <a:lnTo>
                  <a:pt x="37648" y="68699"/>
                </a:lnTo>
                <a:lnTo>
                  <a:pt x="37957" y="68056"/>
                </a:lnTo>
                <a:lnTo>
                  <a:pt x="37814" y="67699"/>
                </a:lnTo>
                <a:lnTo>
                  <a:pt x="37457" y="67389"/>
                </a:lnTo>
                <a:lnTo>
                  <a:pt x="37624" y="66746"/>
                </a:lnTo>
                <a:lnTo>
                  <a:pt x="37886" y="66246"/>
                </a:lnTo>
                <a:lnTo>
                  <a:pt x="37814" y="65961"/>
                </a:lnTo>
                <a:lnTo>
                  <a:pt x="37933" y="65389"/>
                </a:lnTo>
                <a:lnTo>
                  <a:pt x="38243" y="65127"/>
                </a:lnTo>
                <a:lnTo>
                  <a:pt x="38767" y="64841"/>
                </a:lnTo>
                <a:lnTo>
                  <a:pt x="38886" y="64222"/>
                </a:lnTo>
                <a:lnTo>
                  <a:pt x="38957" y="63413"/>
                </a:lnTo>
                <a:lnTo>
                  <a:pt x="38886" y="62960"/>
                </a:lnTo>
                <a:lnTo>
                  <a:pt x="39481" y="62270"/>
                </a:lnTo>
                <a:lnTo>
                  <a:pt x="40243" y="61579"/>
                </a:lnTo>
                <a:lnTo>
                  <a:pt x="40505" y="60960"/>
                </a:lnTo>
                <a:lnTo>
                  <a:pt x="40291" y="60079"/>
                </a:lnTo>
                <a:lnTo>
                  <a:pt x="39529" y="59436"/>
                </a:lnTo>
                <a:lnTo>
                  <a:pt x="39314" y="58626"/>
                </a:lnTo>
                <a:lnTo>
                  <a:pt x="40053" y="57745"/>
                </a:lnTo>
                <a:lnTo>
                  <a:pt x="41172" y="57579"/>
                </a:lnTo>
                <a:lnTo>
                  <a:pt x="42672" y="57626"/>
                </a:lnTo>
                <a:lnTo>
                  <a:pt x="43815" y="57364"/>
                </a:lnTo>
                <a:lnTo>
                  <a:pt x="44434" y="56888"/>
                </a:lnTo>
                <a:lnTo>
                  <a:pt x="45268" y="55935"/>
                </a:lnTo>
                <a:lnTo>
                  <a:pt x="45196" y="54673"/>
                </a:lnTo>
                <a:lnTo>
                  <a:pt x="44410" y="53864"/>
                </a:lnTo>
                <a:lnTo>
                  <a:pt x="43696" y="53578"/>
                </a:lnTo>
                <a:lnTo>
                  <a:pt x="42672" y="53507"/>
                </a:lnTo>
                <a:lnTo>
                  <a:pt x="41791" y="53054"/>
                </a:lnTo>
                <a:lnTo>
                  <a:pt x="41077" y="52364"/>
                </a:lnTo>
                <a:lnTo>
                  <a:pt x="41196" y="51102"/>
                </a:lnTo>
                <a:lnTo>
                  <a:pt x="41386" y="50792"/>
                </a:lnTo>
                <a:lnTo>
                  <a:pt x="42029" y="50959"/>
                </a:lnTo>
                <a:lnTo>
                  <a:pt x="42362" y="51483"/>
                </a:lnTo>
                <a:lnTo>
                  <a:pt x="43577" y="51530"/>
                </a:lnTo>
                <a:lnTo>
                  <a:pt x="44434" y="51411"/>
                </a:lnTo>
                <a:lnTo>
                  <a:pt x="44767" y="50697"/>
                </a:lnTo>
                <a:lnTo>
                  <a:pt x="45006" y="49863"/>
                </a:lnTo>
                <a:lnTo>
                  <a:pt x="45720" y="48601"/>
                </a:lnTo>
                <a:lnTo>
                  <a:pt x="46911" y="47744"/>
                </a:lnTo>
                <a:lnTo>
                  <a:pt x="48054" y="47696"/>
                </a:lnTo>
                <a:lnTo>
                  <a:pt x="48792" y="48363"/>
                </a:lnTo>
                <a:lnTo>
                  <a:pt x="49244" y="49482"/>
                </a:lnTo>
                <a:lnTo>
                  <a:pt x="49697" y="50078"/>
                </a:lnTo>
                <a:lnTo>
                  <a:pt x="50101" y="50363"/>
                </a:lnTo>
                <a:lnTo>
                  <a:pt x="50292" y="51244"/>
                </a:lnTo>
                <a:lnTo>
                  <a:pt x="51006" y="51173"/>
                </a:lnTo>
                <a:lnTo>
                  <a:pt x="51435" y="50268"/>
                </a:lnTo>
                <a:lnTo>
                  <a:pt x="51530" y="49887"/>
                </a:lnTo>
                <a:lnTo>
                  <a:pt x="52459" y="49792"/>
                </a:lnTo>
                <a:lnTo>
                  <a:pt x="53173" y="50387"/>
                </a:lnTo>
                <a:lnTo>
                  <a:pt x="54173" y="50792"/>
                </a:lnTo>
                <a:lnTo>
                  <a:pt x="55531" y="50935"/>
                </a:lnTo>
                <a:lnTo>
                  <a:pt x="57031" y="50911"/>
                </a:lnTo>
                <a:lnTo>
                  <a:pt x="58055" y="51435"/>
                </a:lnTo>
                <a:lnTo>
                  <a:pt x="58293" y="52030"/>
                </a:lnTo>
                <a:lnTo>
                  <a:pt x="58412" y="53483"/>
                </a:lnTo>
                <a:lnTo>
                  <a:pt x="59103" y="54054"/>
                </a:lnTo>
                <a:lnTo>
                  <a:pt x="61079" y="54269"/>
                </a:lnTo>
                <a:lnTo>
                  <a:pt x="62627" y="54626"/>
                </a:lnTo>
                <a:lnTo>
                  <a:pt x="63960" y="55269"/>
                </a:lnTo>
                <a:lnTo>
                  <a:pt x="64960" y="55959"/>
                </a:lnTo>
                <a:lnTo>
                  <a:pt x="65770" y="56602"/>
                </a:lnTo>
                <a:lnTo>
                  <a:pt x="66556" y="57126"/>
                </a:lnTo>
                <a:lnTo>
                  <a:pt x="66913" y="58388"/>
                </a:lnTo>
                <a:lnTo>
                  <a:pt x="67675" y="59007"/>
                </a:lnTo>
                <a:lnTo>
                  <a:pt x="69199" y="58888"/>
                </a:lnTo>
                <a:lnTo>
                  <a:pt x="69604" y="57983"/>
                </a:lnTo>
                <a:lnTo>
                  <a:pt x="69604" y="56721"/>
                </a:lnTo>
                <a:lnTo>
                  <a:pt x="70175" y="56555"/>
                </a:lnTo>
                <a:lnTo>
                  <a:pt x="70985" y="56316"/>
                </a:lnTo>
                <a:lnTo>
                  <a:pt x="71938" y="55340"/>
                </a:lnTo>
                <a:lnTo>
                  <a:pt x="73057" y="55007"/>
                </a:lnTo>
                <a:lnTo>
                  <a:pt x="74295" y="54364"/>
                </a:lnTo>
                <a:lnTo>
                  <a:pt x="74676" y="53173"/>
                </a:lnTo>
                <a:lnTo>
                  <a:pt x="74557" y="51602"/>
                </a:lnTo>
                <a:lnTo>
                  <a:pt x="74271" y="50220"/>
                </a:lnTo>
                <a:lnTo>
                  <a:pt x="73700" y="49530"/>
                </a:lnTo>
                <a:lnTo>
                  <a:pt x="72342" y="48958"/>
                </a:lnTo>
                <a:lnTo>
                  <a:pt x="71652" y="47720"/>
                </a:lnTo>
                <a:lnTo>
                  <a:pt x="70509" y="46958"/>
                </a:lnTo>
                <a:lnTo>
                  <a:pt x="68509" y="47220"/>
                </a:lnTo>
                <a:lnTo>
                  <a:pt x="67151" y="47196"/>
                </a:lnTo>
                <a:lnTo>
                  <a:pt x="66580" y="46625"/>
                </a:lnTo>
                <a:lnTo>
                  <a:pt x="66413" y="45601"/>
                </a:lnTo>
                <a:lnTo>
                  <a:pt x="66723" y="43672"/>
                </a:lnTo>
                <a:lnTo>
                  <a:pt x="67080" y="42291"/>
                </a:lnTo>
                <a:lnTo>
                  <a:pt x="67485" y="41624"/>
                </a:lnTo>
                <a:lnTo>
                  <a:pt x="67342" y="40695"/>
                </a:lnTo>
                <a:lnTo>
                  <a:pt x="67366" y="40029"/>
                </a:lnTo>
                <a:lnTo>
                  <a:pt x="68651" y="39767"/>
                </a:lnTo>
                <a:lnTo>
                  <a:pt x="69604" y="40219"/>
                </a:lnTo>
                <a:lnTo>
                  <a:pt x="70628" y="40076"/>
                </a:lnTo>
                <a:lnTo>
                  <a:pt x="71699" y="40053"/>
                </a:lnTo>
                <a:lnTo>
                  <a:pt x="72557" y="41053"/>
                </a:lnTo>
                <a:lnTo>
                  <a:pt x="72842" y="42553"/>
                </a:lnTo>
                <a:lnTo>
                  <a:pt x="73771" y="43077"/>
                </a:lnTo>
                <a:lnTo>
                  <a:pt x="74176" y="44029"/>
                </a:lnTo>
                <a:lnTo>
                  <a:pt x="75771" y="44339"/>
                </a:lnTo>
                <a:lnTo>
                  <a:pt x="76795" y="44005"/>
                </a:lnTo>
                <a:lnTo>
                  <a:pt x="76938" y="42577"/>
                </a:lnTo>
                <a:lnTo>
                  <a:pt x="76986" y="41172"/>
                </a:lnTo>
                <a:lnTo>
                  <a:pt x="76295" y="40195"/>
                </a:lnTo>
                <a:lnTo>
                  <a:pt x="76462" y="39124"/>
                </a:lnTo>
                <a:lnTo>
                  <a:pt x="76557" y="38838"/>
                </a:lnTo>
                <a:lnTo>
                  <a:pt x="76414" y="38409"/>
                </a:lnTo>
                <a:lnTo>
                  <a:pt x="76724" y="37767"/>
                </a:lnTo>
                <a:lnTo>
                  <a:pt x="76414" y="36933"/>
                </a:lnTo>
                <a:lnTo>
                  <a:pt x="76248" y="36123"/>
                </a:lnTo>
                <a:lnTo>
                  <a:pt x="77200" y="35242"/>
                </a:lnTo>
                <a:lnTo>
                  <a:pt x="78105" y="35100"/>
                </a:lnTo>
                <a:lnTo>
                  <a:pt x="78653" y="34504"/>
                </a:lnTo>
                <a:lnTo>
                  <a:pt x="79129" y="34457"/>
                </a:lnTo>
                <a:lnTo>
                  <a:pt x="79272" y="33837"/>
                </a:lnTo>
                <a:lnTo>
                  <a:pt x="79867" y="33861"/>
                </a:lnTo>
                <a:lnTo>
                  <a:pt x="80320" y="34361"/>
                </a:lnTo>
                <a:lnTo>
                  <a:pt x="81367" y="34266"/>
                </a:lnTo>
                <a:lnTo>
                  <a:pt x="81582" y="33480"/>
                </a:lnTo>
                <a:lnTo>
                  <a:pt x="81677" y="31932"/>
                </a:lnTo>
                <a:lnTo>
                  <a:pt x="80962" y="30909"/>
                </a:lnTo>
                <a:lnTo>
                  <a:pt x="80462" y="30242"/>
                </a:lnTo>
                <a:lnTo>
                  <a:pt x="80939" y="29885"/>
                </a:lnTo>
                <a:lnTo>
                  <a:pt x="81820" y="29766"/>
                </a:lnTo>
                <a:lnTo>
                  <a:pt x="82248" y="29575"/>
                </a:lnTo>
                <a:lnTo>
                  <a:pt x="82510" y="28623"/>
                </a:lnTo>
                <a:lnTo>
                  <a:pt x="82391" y="27837"/>
                </a:lnTo>
                <a:lnTo>
                  <a:pt x="82248" y="27075"/>
                </a:lnTo>
                <a:lnTo>
                  <a:pt x="82725" y="26289"/>
                </a:lnTo>
                <a:lnTo>
                  <a:pt x="83344" y="26027"/>
                </a:lnTo>
                <a:lnTo>
                  <a:pt x="83534" y="25027"/>
                </a:lnTo>
                <a:lnTo>
                  <a:pt x="84415" y="24693"/>
                </a:lnTo>
                <a:lnTo>
                  <a:pt x="84153" y="23812"/>
                </a:lnTo>
                <a:lnTo>
                  <a:pt x="83772" y="23574"/>
                </a:lnTo>
                <a:lnTo>
                  <a:pt x="84249" y="21384"/>
                </a:lnTo>
                <a:lnTo>
                  <a:pt x="84153" y="20312"/>
                </a:lnTo>
                <a:lnTo>
                  <a:pt x="83701" y="19502"/>
                </a:lnTo>
                <a:lnTo>
                  <a:pt x="83439" y="18978"/>
                </a:lnTo>
                <a:lnTo>
                  <a:pt x="83558" y="17597"/>
                </a:lnTo>
                <a:lnTo>
                  <a:pt x="83558" y="16692"/>
                </a:lnTo>
                <a:lnTo>
                  <a:pt x="84677" y="16478"/>
                </a:lnTo>
                <a:lnTo>
                  <a:pt x="86011" y="16454"/>
                </a:lnTo>
                <a:lnTo>
                  <a:pt x="87225" y="16835"/>
                </a:lnTo>
                <a:lnTo>
                  <a:pt x="88678" y="16764"/>
                </a:lnTo>
                <a:lnTo>
                  <a:pt x="89273" y="16002"/>
                </a:lnTo>
                <a:lnTo>
                  <a:pt x="89892" y="15240"/>
                </a:lnTo>
                <a:lnTo>
                  <a:pt x="90368" y="14954"/>
                </a:lnTo>
                <a:lnTo>
                  <a:pt x="90821" y="14787"/>
                </a:lnTo>
                <a:lnTo>
                  <a:pt x="90916" y="13621"/>
                </a:lnTo>
                <a:lnTo>
                  <a:pt x="90726" y="12978"/>
                </a:lnTo>
                <a:lnTo>
                  <a:pt x="89964" y="12501"/>
                </a:lnTo>
                <a:lnTo>
                  <a:pt x="89821" y="12073"/>
                </a:lnTo>
                <a:lnTo>
                  <a:pt x="90654" y="12168"/>
                </a:lnTo>
                <a:lnTo>
                  <a:pt x="91035" y="11859"/>
                </a:lnTo>
                <a:lnTo>
                  <a:pt x="91035" y="10835"/>
                </a:lnTo>
                <a:lnTo>
                  <a:pt x="91273" y="9715"/>
                </a:lnTo>
                <a:lnTo>
                  <a:pt x="91654" y="8691"/>
                </a:lnTo>
                <a:lnTo>
                  <a:pt x="91845" y="8120"/>
                </a:lnTo>
                <a:lnTo>
                  <a:pt x="91892" y="6786"/>
                </a:lnTo>
                <a:lnTo>
                  <a:pt x="91511" y="5810"/>
                </a:lnTo>
                <a:lnTo>
                  <a:pt x="91249" y="5810"/>
                </a:lnTo>
                <a:lnTo>
                  <a:pt x="90964" y="6525"/>
                </a:lnTo>
                <a:lnTo>
                  <a:pt x="90821" y="7620"/>
                </a:lnTo>
                <a:lnTo>
                  <a:pt x="90583" y="8715"/>
                </a:lnTo>
                <a:lnTo>
                  <a:pt x="90345" y="9930"/>
                </a:lnTo>
                <a:lnTo>
                  <a:pt x="89725" y="10811"/>
                </a:lnTo>
                <a:lnTo>
                  <a:pt x="88606" y="10906"/>
                </a:lnTo>
                <a:lnTo>
                  <a:pt x="88868" y="9906"/>
                </a:lnTo>
                <a:lnTo>
                  <a:pt x="89130" y="8572"/>
                </a:lnTo>
                <a:lnTo>
                  <a:pt x="89440" y="7358"/>
                </a:lnTo>
                <a:lnTo>
                  <a:pt x="89773" y="6310"/>
                </a:lnTo>
                <a:lnTo>
                  <a:pt x="89773" y="4620"/>
                </a:lnTo>
                <a:lnTo>
                  <a:pt x="89868" y="3667"/>
                </a:lnTo>
                <a:lnTo>
                  <a:pt x="90559" y="3143"/>
                </a:lnTo>
                <a:lnTo>
                  <a:pt x="91488" y="3524"/>
                </a:lnTo>
                <a:lnTo>
                  <a:pt x="92178" y="4262"/>
                </a:lnTo>
                <a:lnTo>
                  <a:pt x="93012" y="4048"/>
                </a:lnTo>
                <a:lnTo>
                  <a:pt x="93297" y="3357"/>
                </a:lnTo>
                <a:lnTo>
                  <a:pt x="93440" y="2357"/>
                </a:lnTo>
                <a:lnTo>
                  <a:pt x="94012" y="1810"/>
                </a:lnTo>
                <a:lnTo>
                  <a:pt x="95512" y="1857"/>
                </a:lnTo>
                <a:lnTo>
                  <a:pt x="96464" y="2095"/>
                </a:lnTo>
                <a:lnTo>
                  <a:pt x="96798" y="1953"/>
                </a:lnTo>
                <a:lnTo>
                  <a:pt x="97012" y="714"/>
                </a:lnTo>
                <a:lnTo>
                  <a:pt x="97274" y="0"/>
                </a:lnTo>
                <a:lnTo>
                  <a:pt x="98060" y="71"/>
                </a:lnTo>
                <a:lnTo>
                  <a:pt x="98536" y="1286"/>
                </a:lnTo>
                <a:lnTo>
                  <a:pt x="98965" y="2381"/>
                </a:lnTo>
                <a:lnTo>
                  <a:pt x="99965" y="2738"/>
                </a:lnTo>
                <a:lnTo>
                  <a:pt x="100798" y="2905"/>
                </a:lnTo>
                <a:lnTo>
                  <a:pt x="101322" y="3834"/>
                </a:lnTo>
                <a:lnTo>
                  <a:pt x="101751" y="4929"/>
                </a:lnTo>
                <a:lnTo>
                  <a:pt x="102441" y="5953"/>
                </a:lnTo>
                <a:lnTo>
                  <a:pt x="103465" y="6405"/>
                </a:lnTo>
                <a:lnTo>
                  <a:pt x="104680" y="6405"/>
                </a:lnTo>
                <a:lnTo>
                  <a:pt x="105680" y="7453"/>
                </a:lnTo>
                <a:lnTo>
                  <a:pt x="106585" y="8191"/>
                </a:lnTo>
                <a:lnTo>
                  <a:pt x="107180" y="9239"/>
                </a:lnTo>
                <a:lnTo>
                  <a:pt x="107632" y="10335"/>
                </a:lnTo>
                <a:lnTo>
                  <a:pt x="108633" y="10477"/>
                </a:lnTo>
                <a:lnTo>
                  <a:pt x="109871" y="10858"/>
                </a:lnTo>
                <a:lnTo>
                  <a:pt x="110895" y="11525"/>
                </a:lnTo>
                <a:lnTo>
                  <a:pt x="111395" y="12525"/>
                </a:lnTo>
                <a:lnTo>
                  <a:pt x="111514" y="13335"/>
                </a:lnTo>
                <a:lnTo>
                  <a:pt x="111538" y="14311"/>
                </a:lnTo>
                <a:lnTo>
                  <a:pt x="111657" y="15359"/>
                </a:lnTo>
                <a:lnTo>
                  <a:pt x="112705" y="16526"/>
                </a:lnTo>
                <a:lnTo>
                  <a:pt x="113633" y="17288"/>
                </a:lnTo>
                <a:lnTo>
                  <a:pt x="114586" y="17645"/>
                </a:lnTo>
                <a:lnTo>
                  <a:pt x="115038" y="18312"/>
                </a:lnTo>
                <a:lnTo>
                  <a:pt x="115800" y="19098"/>
                </a:lnTo>
                <a:lnTo>
                  <a:pt x="117038" y="18978"/>
                </a:lnTo>
                <a:lnTo>
                  <a:pt x="117253" y="20050"/>
                </a:lnTo>
                <a:lnTo>
                  <a:pt x="117229" y="21812"/>
                </a:lnTo>
                <a:lnTo>
                  <a:pt x="117705" y="22503"/>
                </a:lnTo>
                <a:lnTo>
                  <a:pt x="118420" y="22598"/>
                </a:lnTo>
                <a:lnTo>
                  <a:pt x="118372" y="23979"/>
                </a:lnTo>
                <a:lnTo>
                  <a:pt x="119634" y="24384"/>
                </a:lnTo>
                <a:lnTo>
                  <a:pt x="120491" y="24527"/>
                </a:lnTo>
                <a:lnTo>
                  <a:pt x="120872" y="25194"/>
                </a:lnTo>
                <a:lnTo>
                  <a:pt x="121468" y="25860"/>
                </a:lnTo>
                <a:lnTo>
                  <a:pt x="122491" y="25360"/>
                </a:lnTo>
                <a:lnTo>
                  <a:pt x="122658" y="24432"/>
                </a:lnTo>
                <a:lnTo>
                  <a:pt x="122634" y="23884"/>
                </a:lnTo>
                <a:lnTo>
                  <a:pt x="122087" y="23479"/>
                </a:lnTo>
                <a:lnTo>
                  <a:pt x="122253" y="22908"/>
                </a:lnTo>
                <a:lnTo>
                  <a:pt x="123325" y="22955"/>
                </a:lnTo>
                <a:lnTo>
                  <a:pt x="124325" y="23289"/>
                </a:lnTo>
                <a:lnTo>
                  <a:pt x="124920" y="23717"/>
                </a:lnTo>
                <a:lnTo>
                  <a:pt x="125016" y="25074"/>
                </a:lnTo>
                <a:lnTo>
                  <a:pt x="125063" y="26527"/>
                </a:lnTo>
                <a:lnTo>
                  <a:pt x="125706" y="26718"/>
                </a:lnTo>
                <a:lnTo>
                  <a:pt x="126468" y="26098"/>
                </a:lnTo>
                <a:lnTo>
                  <a:pt x="126897" y="26098"/>
                </a:lnTo>
                <a:lnTo>
                  <a:pt x="126897" y="27194"/>
                </a:lnTo>
                <a:lnTo>
                  <a:pt x="127421" y="27384"/>
                </a:lnTo>
                <a:lnTo>
                  <a:pt x="127921" y="27241"/>
                </a:lnTo>
                <a:lnTo>
                  <a:pt x="128635" y="27646"/>
                </a:lnTo>
                <a:lnTo>
                  <a:pt x="129040" y="27884"/>
                </a:lnTo>
                <a:lnTo>
                  <a:pt x="129992" y="28242"/>
                </a:lnTo>
                <a:lnTo>
                  <a:pt x="130397" y="27980"/>
                </a:lnTo>
                <a:lnTo>
                  <a:pt x="130540" y="27527"/>
                </a:lnTo>
                <a:lnTo>
                  <a:pt x="130945" y="27813"/>
                </a:lnTo>
                <a:lnTo>
                  <a:pt x="131635" y="28242"/>
                </a:lnTo>
                <a:lnTo>
                  <a:pt x="132517" y="28218"/>
                </a:lnTo>
                <a:lnTo>
                  <a:pt x="133231" y="28694"/>
                </a:lnTo>
                <a:lnTo>
                  <a:pt x="134231" y="28813"/>
                </a:lnTo>
                <a:lnTo>
                  <a:pt x="135255" y="28646"/>
                </a:lnTo>
                <a:lnTo>
                  <a:pt x="136660" y="28813"/>
                </a:lnTo>
                <a:lnTo>
                  <a:pt x="137160" y="29456"/>
                </a:lnTo>
                <a:lnTo>
                  <a:pt x="137636" y="30456"/>
                </a:lnTo>
                <a:lnTo>
                  <a:pt x="137970" y="30813"/>
                </a:lnTo>
                <a:lnTo>
                  <a:pt x="137612" y="31718"/>
                </a:lnTo>
                <a:lnTo>
                  <a:pt x="137541" y="32933"/>
                </a:lnTo>
                <a:lnTo>
                  <a:pt x="137446" y="34147"/>
                </a:lnTo>
                <a:lnTo>
                  <a:pt x="136303" y="34742"/>
                </a:lnTo>
                <a:lnTo>
                  <a:pt x="135588" y="35361"/>
                </a:lnTo>
                <a:lnTo>
                  <a:pt x="135541" y="36171"/>
                </a:lnTo>
                <a:lnTo>
                  <a:pt x="136184" y="37266"/>
                </a:lnTo>
                <a:lnTo>
                  <a:pt x="137231" y="38219"/>
                </a:lnTo>
                <a:lnTo>
                  <a:pt x="137851" y="39100"/>
                </a:lnTo>
                <a:lnTo>
                  <a:pt x="138803" y="40243"/>
                </a:lnTo>
                <a:lnTo>
                  <a:pt x="139279" y="41076"/>
                </a:lnTo>
                <a:lnTo>
                  <a:pt x="139613" y="42172"/>
                </a:lnTo>
                <a:lnTo>
                  <a:pt x="139422" y="43577"/>
                </a:lnTo>
                <a:lnTo>
                  <a:pt x="139756" y="44886"/>
                </a:lnTo>
                <a:lnTo>
                  <a:pt x="139875" y="45768"/>
                </a:lnTo>
                <a:lnTo>
                  <a:pt x="140994" y="46315"/>
                </a:lnTo>
                <a:lnTo>
                  <a:pt x="141946" y="46696"/>
                </a:lnTo>
                <a:lnTo>
                  <a:pt x="142565" y="47220"/>
                </a:lnTo>
                <a:lnTo>
                  <a:pt x="142970" y="48149"/>
                </a:lnTo>
                <a:lnTo>
                  <a:pt x="143399" y="49244"/>
                </a:lnTo>
                <a:lnTo>
                  <a:pt x="144328" y="50078"/>
                </a:lnTo>
                <a:lnTo>
                  <a:pt x="144851" y="50601"/>
                </a:lnTo>
                <a:lnTo>
                  <a:pt x="145709" y="51363"/>
                </a:lnTo>
                <a:lnTo>
                  <a:pt x="146995" y="51816"/>
                </a:lnTo>
                <a:lnTo>
                  <a:pt x="148519" y="52387"/>
                </a:lnTo>
                <a:lnTo>
                  <a:pt x="149852" y="52316"/>
                </a:lnTo>
                <a:lnTo>
                  <a:pt x="150114" y="51744"/>
                </a:lnTo>
                <a:lnTo>
                  <a:pt x="150043" y="50982"/>
                </a:lnTo>
                <a:lnTo>
                  <a:pt x="149733" y="50482"/>
                </a:lnTo>
                <a:lnTo>
                  <a:pt x="148995" y="50101"/>
                </a:lnTo>
                <a:lnTo>
                  <a:pt x="148114" y="49530"/>
                </a:lnTo>
                <a:lnTo>
                  <a:pt x="148638" y="49339"/>
                </a:lnTo>
                <a:lnTo>
                  <a:pt x="149519" y="49554"/>
                </a:lnTo>
                <a:lnTo>
                  <a:pt x="150924" y="50006"/>
                </a:lnTo>
                <a:lnTo>
                  <a:pt x="151828" y="50316"/>
                </a:lnTo>
                <a:lnTo>
                  <a:pt x="151900" y="51102"/>
                </a:lnTo>
                <a:lnTo>
                  <a:pt x="152781" y="51078"/>
                </a:lnTo>
                <a:lnTo>
                  <a:pt x="152971" y="50030"/>
                </a:lnTo>
                <a:lnTo>
                  <a:pt x="152614" y="49268"/>
                </a:lnTo>
                <a:lnTo>
                  <a:pt x="151281" y="48173"/>
                </a:lnTo>
                <a:lnTo>
                  <a:pt x="150138" y="47577"/>
                </a:lnTo>
                <a:lnTo>
                  <a:pt x="149447" y="47863"/>
                </a:lnTo>
                <a:lnTo>
                  <a:pt x="148757" y="48268"/>
                </a:lnTo>
                <a:lnTo>
                  <a:pt x="148423" y="48339"/>
                </a:lnTo>
                <a:lnTo>
                  <a:pt x="148328" y="46577"/>
                </a:lnTo>
                <a:lnTo>
                  <a:pt x="149066" y="45077"/>
                </a:lnTo>
                <a:lnTo>
                  <a:pt x="149209" y="44267"/>
                </a:lnTo>
                <a:lnTo>
                  <a:pt x="148542" y="43267"/>
                </a:lnTo>
                <a:lnTo>
                  <a:pt x="147876" y="42362"/>
                </a:lnTo>
                <a:lnTo>
                  <a:pt x="148423" y="41362"/>
                </a:lnTo>
                <a:lnTo>
                  <a:pt x="148971" y="40434"/>
                </a:lnTo>
                <a:lnTo>
                  <a:pt x="148900" y="39386"/>
                </a:lnTo>
                <a:lnTo>
                  <a:pt x="148947" y="38481"/>
                </a:lnTo>
                <a:lnTo>
                  <a:pt x="149376" y="38219"/>
                </a:lnTo>
                <a:lnTo>
                  <a:pt x="149685" y="38981"/>
                </a:lnTo>
                <a:lnTo>
                  <a:pt x="149804" y="39600"/>
                </a:lnTo>
                <a:lnTo>
                  <a:pt x="150138" y="40481"/>
                </a:lnTo>
                <a:lnTo>
                  <a:pt x="150209" y="41434"/>
                </a:lnTo>
                <a:lnTo>
                  <a:pt x="151019" y="41981"/>
                </a:lnTo>
                <a:lnTo>
                  <a:pt x="150995" y="42648"/>
                </a:lnTo>
                <a:lnTo>
                  <a:pt x="151209" y="43482"/>
                </a:lnTo>
                <a:lnTo>
                  <a:pt x="151757" y="44267"/>
                </a:lnTo>
                <a:lnTo>
                  <a:pt x="152305" y="44244"/>
                </a:lnTo>
                <a:lnTo>
                  <a:pt x="152900" y="43386"/>
                </a:lnTo>
                <a:lnTo>
                  <a:pt x="153829" y="42934"/>
                </a:lnTo>
                <a:lnTo>
                  <a:pt x="154019" y="42124"/>
                </a:lnTo>
                <a:lnTo>
                  <a:pt x="154567" y="41577"/>
                </a:lnTo>
                <a:lnTo>
                  <a:pt x="155210" y="42148"/>
                </a:lnTo>
                <a:lnTo>
                  <a:pt x="155115" y="42791"/>
                </a:lnTo>
                <a:lnTo>
                  <a:pt x="154686" y="43291"/>
                </a:lnTo>
                <a:lnTo>
                  <a:pt x="155138" y="43672"/>
                </a:lnTo>
                <a:lnTo>
                  <a:pt x="155591" y="44029"/>
                </a:lnTo>
                <a:lnTo>
                  <a:pt x="155543" y="44934"/>
                </a:lnTo>
                <a:lnTo>
                  <a:pt x="155567" y="45934"/>
                </a:lnTo>
                <a:lnTo>
                  <a:pt x="156353" y="46339"/>
                </a:lnTo>
                <a:lnTo>
                  <a:pt x="157401" y="46506"/>
                </a:lnTo>
                <a:lnTo>
                  <a:pt x="158020" y="45839"/>
                </a:lnTo>
                <a:lnTo>
                  <a:pt x="159401" y="45267"/>
                </a:lnTo>
                <a:lnTo>
                  <a:pt x="160234" y="44696"/>
                </a:lnTo>
                <a:lnTo>
                  <a:pt x="162068" y="43767"/>
                </a:lnTo>
                <a:lnTo>
                  <a:pt x="162877" y="42743"/>
                </a:lnTo>
                <a:lnTo>
                  <a:pt x="163544" y="42386"/>
                </a:lnTo>
                <a:lnTo>
                  <a:pt x="164473" y="42386"/>
                </a:lnTo>
                <a:lnTo>
                  <a:pt x="164925" y="42077"/>
                </a:lnTo>
                <a:lnTo>
                  <a:pt x="164973" y="41291"/>
                </a:lnTo>
                <a:lnTo>
                  <a:pt x="164592" y="40648"/>
                </a:lnTo>
                <a:lnTo>
                  <a:pt x="164521" y="39862"/>
                </a:lnTo>
                <a:lnTo>
                  <a:pt x="164806" y="39505"/>
                </a:lnTo>
                <a:lnTo>
                  <a:pt x="164997" y="39005"/>
                </a:lnTo>
                <a:lnTo>
                  <a:pt x="165187" y="38338"/>
                </a:lnTo>
                <a:lnTo>
                  <a:pt x="165878" y="37290"/>
                </a:lnTo>
                <a:lnTo>
                  <a:pt x="167021" y="36647"/>
                </a:lnTo>
                <a:lnTo>
                  <a:pt x="167354" y="35719"/>
                </a:lnTo>
                <a:lnTo>
                  <a:pt x="167307" y="34695"/>
                </a:lnTo>
                <a:lnTo>
                  <a:pt x="167068" y="33385"/>
                </a:lnTo>
                <a:lnTo>
                  <a:pt x="166997" y="32671"/>
                </a:lnTo>
                <a:lnTo>
                  <a:pt x="167378" y="32337"/>
                </a:lnTo>
                <a:lnTo>
                  <a:pt x="167354" y="31266"/>
                </a:lnTo>
                <a:lnTo>
                  <a:pt x="167926" y="30456"/>
                </a:lnTo>
                <a:lnTo>
                  <a:pt x="168592" y="29861"/>
                </a:lnTo>
                <a:lnTo>
                  <a:pt x="169331" y="29861"/>
                </a:lnTo>
                <a:lnTo>
                  <a:pt x="169902" y="30861"/>
                </a:lnTo>
                <a:lnTo>
                  <a:pt x="170093" y="32123"/>
                </a:lnTo>
                <a:lnTo>
                  <a:pt x="169831" y="33218"/>
                </a:lnTo>
                <a:lnTo>
                  <a:pt x="169545" y="34099"/>
                </a:lnTo>
                <a:lnTo>
                  <a:pt x="169450" y="34909"/>
                </a:lnTo>
                <a:lnTo>
                  <a:pt x="169855" y="35361"/>
                </a:lnTo>
                <a:lnTo>
                  <a:pt x="169950" y="36171"/>
                </a:lnTo>
                <a:lnTo>
                  <a:pt x="170902" y="36933"/>
                </a:lnTo>
                <a:lnTo>
                  <a:pt x="171521" y="38148"/>
                </a:lnTo>
                <a:lnTo>
                  <a:pt x="172355" y="39124"/>
                </a:lnTo>
                <a:lnTo>
                  <a:pt x="172569" y="40457"/>
                </a:lnTo>
                <a:lnTo>
                  <a:pt x="172379" y="41815"/>
                </a:lnTo>
                <a:lnTo>
                  <a:pt x="172021" y="42815"/>
                </a:lnTo>
                <a:lnTo>
                  <a:pt x="172164" y="43767"/>
                </a:lnTo>
                <a:lnTo>
                  <a:pt x="172974" y="45006"/>
                </a:lnTo>
                <a:lnTo>
                  <a:pt x="173665" y="46006"/>
                </a:lnTo>
                <a:lnTo>
                  <a:pt x="173760" y="47458"/>
                </a:lnTo>
                <a:lnTo>
                  <a:pt x="173807" y="48173"/>
                </a:lnTo>
                <a:lnTo>
                  <a:pt x="173736" y="49197"/>
                </a:lnTo>
                <a:lnTo>
                  <a:pt x="173522" y="49792"/>
                </a:lnTo>
                <a:lnTo>
                  <a:pt x="174379" y="50411"/>
                </a:lnTo>
                <a:lnTo>
                  <a:pt x="174355" y="51578"/>
                </a:lnTo>
                <a:lnTo>
                  <a:pt x="174284" y="53007"/>
                </a:lnTo>
                <a:lnTo>
                  <a:pt x="174950" y="53745"/>
                </a:lnTo>
                <a:lnTo>
                  <a:pt x="175998" y="53864"/>
                </a:lnTo>
                <a:lnTo>
                  <a:pt x="176403" y="54411"/>
                </a:lnTo>
                <a:lnTo>
                  <a:pt x="176332" y="55269"/>
                </a:lnTo>
                <a:lnTo>
                  <a:pt x="176784" y="56436"/>
                </a:lnTo>
                <a:lnTo>
                  <a:pt x="177856" y="57340"/>
                </a:lnTo>
                <a:lnTo>
                  <a:pt x="178546" y="58079"/>
                </a:lnTo>
                <a:lnTo>
                  <a:pt x="179260" y="58650"/>
                </a:lnTo>
                <a:lnTo>
                  <a:pt x="179808" y="59126"/>
                </a:lnTo>
                <a:lnTo>
                  <a:pt x="179689" y="60293"/>
                </a:lnTo>
                <a:lnTo>
                  <a:pt x="180451" y="61246"/>
                </a:lnTo>
                <a:lnTo>
                  <a:pt x="180808" y="61436"/>
                </a:lnTo>
                <a:lnTo>
                  <a:pt x="180618" y="62055"/>
                </a:lnTo>
                <a:lnTo>
                  <a:pt x="181356" y="63151"/>
                </a:lnTo>
                <a:lnTo>
                  <a:pt x="182428" y="63413"/>
                </a:lnTo>
                <a:lnTo>
                  <a:pt x="183904" y="62960"/>
                </a:lnTo>
                <a:lnTo>
                  <a:pt x="185309" y="62127"/>
                </a:lnTo>
                <a:lnTo>
                  <a:pt x="185499" y="60960"/>
                </a:lnTo>
                <a:lnTo>
                  <a:pt x="185476" y="59865"/>
                </a:lnTo>
                <a:lnTo>
                  <a:pt x="185999" y="59388"/>
                </a:lnTo>
                <a:lnTo>
                  <a:pt x="186499" y="59722"/>
                </a:lnTo>
                <a:lnTo>
                  <a:pt x="186761" y="60698"/>
                </a:lnTo>
                <a:lnTo>
                  <a:pt x="186928" y="61293"/>
                </a:lnTo>
                <a:lnTo>
                  <a:pt x="187476" y="62055"/>
                </a:lnTo>
                <a:lnTo>
                  <a:pt x="186380" y="63579"/>
                </a:lnTo>
                <a:lnTo>
                  <a:pt x="184761" y="64746"/>
                </a:lnTo>
                <a:lnTo>
                  <a:pt x="184118" y="65699"/>
                </a:lnTo>
                <a:lnTo>
                  <a:pt x="183856" y="67342"/>
                </a:lnTo>
                <a:lnTo>
                  <a:pt x="183047" y="68247"/>
                </a:lnTo>
                <a:lnTo>
                  <a:pt x="181880" y="68628"/>
                </a:lnTo>
                <a:lnTo>
                  <a:pt x="180427" y="68389"/>
                </a:lnTo>
                <a:lnTo>
                  <a:pt x="179808" y="68175"/>
                </a:lnTo>
                <a:lnTo>
                  <a:pt x="179522" y="68985"/>
                </a:lnTo>
                <a:lnTo>
                  <a:pt x="180403" y="69890"/>
                </a:lnTo>
                <a:lnTo>
                  <a:pt x="180403" y="71223"/>
                </a:lnTo>
                <a:lnTo>
                  <a:pt x="179999" y="72747"/>
                </a:lnTo>
                <a:lnTo>
                  <a:pt x="178618" y="74724"/>
                </a:lnTo>
                <a:lnTo>
                  <a:pt x="177379" y="75128"/>
                </a:lnTo>
                <a:lnTo>
                  <a:pt x="175093" y="75819"/>
                </a:lnTo>
                <a:lnTo>
                  <a:pt x="172831" y="76581"/>
                </a:lnTo>
                <a:lnTo>
                  <a:pt x="170116" y="77438"/>
                </a:lnTo>
                <a:lnTo>
                  <a:pt x="168616" y="77938"/>
                </a:lnTo>
                <a:lnTo>
                  <a:pt x="167997" y="78676"/>
                </a:lnTo>
                <a:lnTo>
                  <a:pt x="167926" y="79915"/>
                </a:lnTo>
                <a:lnTo>
                  <a:pt x="167830" y="80486"/>
                </a:lnTo>
                <a:lnTo>
                  <a:pt x="167116" y="81058"/>
                </a:lnTo>
                <a:lnTo>
                  <a:pt x="166283" y="81748"/>
                </a:lnTo>
                <a:lnTo>
                  <a:pt x="165854" y="83296"/>
                </a:lnTo>
                <a:lnTo>
                  <a:pt x="165973" y="85463"/>
                </a:lnTo>
                <a:lnTo>
                  <a:pt x="166140" y="89297"/>
                </a:lnTo>
                <a:lnTo>
                  <a:pt x="165568" y="90440"/>
                </a:lnTo>
                <a:lnTo>
                  <a:pt x="164830" y="90940"/>
                </a:lnTo>
                <a:lnTo>
                  <a:pt x="164259" y="91749"/>
                </a:lnTo>
                <a:lnTo>
                  <a:pt x="164378" y="93083"/>
                </a:lnTo>
                <a:lnTo>
                  <a:pt x="165140" y="94107"/>
                </a:lnTo>
                <a:lnTo>
                  <a:pt x="165402" y="95131"/>
                </a:lnTo>
                <a:lnTo>
                  <a:pt x="164997" y="96488"/>
                </a:lnTo>
                <a:lnTo>
                  <a:pt x="163639" y="98846"/>
                </a:lnTo>
                <a:lnTo>
                  <a:pt x="162449" y="100251"/>
                </a:lnTo>
                <a:lnTo>
                  <a:pt x="160377" y="101298"/>
                </a:lnTo>
                <a:lnTo>
                  <a:pt x="158829" y="101108"/>
                </a:lnTo>
                <a:lnTo>
                  <a:pt x="157805" y="100774"/>
                </a:lnTo>
                <a:lnTo>
                  <a:pt x="155996" y="101274"/>
                </a:lnTo>
                <a:lnTo>
                  <a:pt x="154257" y="101822"/>
                </a:lnTo>
                <a:lnTo>
                  <a:pt x="153876" y="103132"/>
                </a:lnTo>
                <a:lnTo>
                  <a:pt x="154067" y="106632"/>
                </a:lnTo>
                <a:lnTo>
                  <a:pt x="153757" y="107823"/>
                </a:lnTo>
                <a:lnTo>
                  <a:pt x="153162" y="109299"/>
                </a:lnTo>
                <a:lnTo>
                  <a:pt x="152424" y="110014"/>
                </a:lnTo>
                <a:lnTo>
                  <a:pt x="150328" y="109966"/>
                </a:lnTo>
                <a:lnTo>
                  <a:pt x="148447" y="109871"/>
                </a:lnTo>
                <a:lnTo>
                  <a:pt x="146899" y="110204"/>
                </a:lnTo>
                <a:lnTo>
                  <a:pt x="146066" y="111585"/>
                </a:lnTo>
                <a:lnTo>
                  <a:pt x="145447" y="112466"/>
                </a:lnTo>
                <a:lnTo>
                  <a:pt x="143685" y="115371"/>
                </a:lnTo>
                <a:lnTo>
                  <a:pt x="142970" y="116467"/>
                </a:lnTo>
                <a:lnTo>
                  <a:pt x="141351" y="116848"/>
                </a:lnTo>
                <a:lnTo>
                  <a:pt x="140470" y="116538"/>
                </a:lnTo>
                <a:lnTo>
                  <a:pt x="139184" y="117157"/>
                </a:lnTo>
                <a:lnTo>
                  <a:pt x="137874" y="118372"/>
                </a:lnTo>
                <a:lnTo>
                  <a:pt x="135874" y="119920"/>
                </a:lnTo>
                <a:lnTo>
                  <a:pt x="134112" y="120396"/>
                </a:lnTo>
                <a:lnTo>
                  <a:pt x="132088" y="119943"/>
                </a:lnTo>
                <a:lnTo>
                  <a:pt x="130897" y="118753"/>
                </a:lnTo>
                <a:lnTo>
                  <a:pt x="129635" y="117848"/>
                </a:lnTo>
                <a:lnTo>
                  <a:pt x="128445" y="117896"/>
                </a:lnTo>
                <a:lnTo>
                  <a:pt x="127444" y="119039"/>
                </a:lnTo>
                <a:lnTo>
                  <a:pt x="126111" y="120610"/>
                </a:lnTo>
                <a:lnTo>
                  <a:pt x="124897" y="121158"/>
                </a:lnTo>
                <a:lnTo>
                  <a:pt x="123301" y="120372"/>
                </a:lnTo>
                <a:lnTo>
                  <a:pt x="122253" y="118848"/>
                </a:lnTo>
                <a:lnTo>
                  <a:pt x="120158" y="117419"/>
                </a:lnTo>
                <a:lnTo>
                  <a:pt x="116157" y="115967"/>
                </a:lnTo>
                <a:lnTo>
                  <a:pt x="114871" y="115991"/>
                </a:lnTo>
                <a:lnTo>
                  <a:pt x="113633" y="116634"/>
                </a:lnTo>
                <a:lnTo>
                  <a:pt x="112871" y="118205"/>
                </a:lnTo>
                <a:lnTo>
                  <a:pt x="111704" y="119324"/>
                </a:lnTo>
                <a:lnTo>
                  <a:pt x="109514" y="119324"/>
                </a:lnTo>
                <a:lnTo>
                  <a:pt x="108942" y="121325"/>
                </a:lnTo>
                <a:lnTo>
                  <a:pt x="108775" y="122491"/>
                </a:lnTo>
                <a:lnTo>
                  <a:pt x="108752" y="123777"/>
                </a:lnTo>
                <a:lnTo>
                  <a:pt x="107299" y="124658"/>
                </a:lnTo>
                <a:lnTo>
                  <a:pt x="106585" y="125254"/>
                </a:lnTo>
                <a:lnTo>
                  <a:pt x="106537" y="126087"/>
                </a:lnTo>
                <a:lnTo>
                  <a:pt x="106156" y="126944"/>
                </a:lnTo>
                <a:lnTo>
                  <a:pt x="104870" y="127944"/>
                </a:lnTo>
                <a:lnTo>
                  <a:pt x="104156" y="128945"/>
                </a:lnTo>
                <a:lnTo>
                  <a:pt x="103989" y="129873"/>
                </a:lnTo>
                <a:lnTo>
                  <a:pt x="104561" y="130778"/>
                </a:lnTo>
                <a:lnTo>
                  <a:pt x="104632" y="131731"/>
                </a:lnTo>
                <a:lnTo>
                  <a:pt x="104084" y="132064"/>
                </a:lnTo>
                <a:lnTo>
                  <a:pt x="103060" y="132135"/>
                </a:lnTo>
                <a:lnTo>
                  <a:pt x="102870" y="132731"/>
                </a:lnTo>
                <a:lnTo>
                  <a:pt x="102775" y="134398"/>
                </a:lnTo>
                <a:lnTo>
                  <a:pt x="102608" y="136398"/>
                </a:lnTo>
                <a:lnTo>
                  <a:pt x="102489" y="137612"/>
                </a:lnTo>
                <a:lnTo>
                  <a:pt x="101727" y="138470"/>
                </a:lnTo>
                <a:lnTo>
                  <a:pt x="99822" y="138398"/>
                </a:lnTo>
                <a:lnTo>
                  <a:pt x="99417" y="136898"/>
                </a:lnTo>
                <a:lnTo>
                  <a:pt x="99655" y="134683"/>
                </a:lnTo>
                <a:lnTo>
                  <a:pt x="99655" y="132493"/>
                </a:lnTo>
                <a:lnTo>
                  <a:pt x="98869" y="130373"/>
                </a:lnTo>
                <a:lnTo>
                  <a:pt x="98036" y="129826"/>
                </a:lnTo>
                <a:lnTo>
                  <a:pt x="96250" y="130445"/>
                </a:lnTo>
                <a:lnTo>
                  <a:pt x="94345" y="130945"/>
                </a:lnTo>
                <a:lnTo>
                  <a:pt x="92369" y="130992"/>
                </a:lnTo>
                <a:lnTo>
                  <a:pt x="90440" y="129802"/>
                </a:lnTo>
                <a:lnTo>
                  <a:pt x="88821" y="128635"/>
                </a:lnTo>
                <a:lnTo>
                  <a:pt x="87535" y="128706"/>
                </a:lnTo>
                <a:lnTo>
                  <a:pt x="86296" y="129754"/>
                </a:lnTo>
                <a:lnTo>
                  <a:pt x="85439" y="128492"/>
                </a:lnTo>
                <a:lnTo>
                  <a:pt x="85153" y="126135"/>
                </a:lnTo>
                <a:lnTo>
                  <a:pt x="84630" y="124801"/>
                </a:lnTo>
                <a:lnTo>
                  <a:pt x="83391" y="124587"/>
                </a:lnTo>
                <a:lnTo>
                  <a:pt x="81724" y="125277"/>
                </a:lnTo>
                <a:lnTo>
                  <a:pt x="80320" y="124801"/>
                </a:lnTo>
                <a:lnTo>
                  <a:pt x="78891" y="123349"/>
                </a:lnTo>
                <a:lnTo>
                  <a:pt x="78081" y="122753"/>
                </a:lnTo>
                <a:lnTo>
                  <a:pt x="77653" y="122587"/>
                </a:lnTo>
                <a:lnTo>
                  <a:pt x="77010" y="123253"/>
                </a:lnTo>
                <a:lnTo>
                  <a:pt x="77105" y="123968"/>
                </a:lnTo>
                <a:lnTo>
                  <a:pt x="75890" y="124206"/>
                </a:lnTo>
                <a:lnTo>
                  <a:pt x="74700" y="123396"/>
                </a:lnTo>
                <a:lnTo>
                  <a:pt x="73914" y="122777"/>
                </a:lnTo>
                <a:lnTo>
                  <a:pt x="73176" y="123396"/>
                </a:lnTo>
                <a:lnTo>
                  <a:pt x="73081" y="124515"/>
                </a:lnTo>
                <a:lnTo>
                  <a:pt x="72628" y="126087"/>
                </a:lnTo>
                <a:lnTo>
                  <a:pt x="71795" y="127659"/>
                </a:lnTo>
                <a:lnTo>
                  <a:pt x="70509" y="129064"/>
                </a:lnTo>
                <a:lnTo>
                  <a:pt x="69247" y="129897"/>
                </a:lnTo>
                <a:lnTo>
                  <a:pt x="67961" y="130326"/>
                </a:lnTo>
                <a:lnTo>
                  <a:pt x="67246" y="129540"/>
                </a:lnTo>
                <a:lnTo>
                  <a:pt x="67008" y="128778"/>
                </a:lnTo>
                <a:lnTo>
                  <a:pt x="66413" y="128445"/>
                </a:lnTo>
                <a:lnTo>
                  <a:pt x="66175" y="129278"/>
                </a:lnTo>
                <a:lnTo>
                  <a:pt x="66199" y="130111"/>
                </a:lnTo>
                <a:lnTo>
                  <a:pt x="64318" y="129945"/>
                </a:lnTo>
                <a:lnTo>
                  <a:pt x="60079" y="130088"/>
                </a:lnTo>
                <a:lnTo>
                  <a:pt x="57007" y="129659"/>
                </a:lnTo>
                <a:lnTo>
                  <a:pt x="53769" y="129397"/>
                </a:lnTo>
                <a:lnTo>
                  <a:pt x="51864" y="128873"/>
                </a:lnTo>
                <a:lnTo>
                  <a:pt x="49578" y="127683"/>
                </a:lnTo>
                <a:lnTo>
                  <a:pt x="47554" y="126492"/>
                </a:lnTo>
                <a:lnTo>
                  <a:pt x="45934" y="125563"/>
                </a:lnTo>
                <a:lnTo>
                  <a:pt x="44553" y="124206"/>
                </a:lnTo>
                <a:lnTo>
                  <a:pt x="44529" y="123444"/>
                </a:lnTo>
                <a:lnTo>
                  <a:pt x="44887" y="123134"/>
                </a:lnTo>
                <a:lnTo>
                  <a:pt x="44910" y="122777"/>
                </a:lnTo>
                <a:lnTo>
                  <a:pt x="43529" y="122825"/>
                </a:lnTo>
                <a:lnTo>
                  <a:pt x="43291" y="121753"/>
                </a:lnTo>
                <a:lnTo>
                  <a:pt x="42791" y="121229"/>
                </a:lnTo>
                <a:lnTo>
                  <a:pt x="42077" y="121444"/>
                </a:lnTo>
                <a:lnTo>
                  <a:pt x="41648" y="122015"/>
                </a:lnTo>
                <a:lnTo>
                  <a:pt x="40957" y="121634"/>
                </a:lnTo>
                <a:lnTo>
                  <a:pt x="40934" y="120229"/>
                </a:lnTo>
                <a:lnTo>
                  <a:pt x="40410" y="119705"/>
                </a:lnTo>
                <a:lnTo>
                  <a:pt x="39719" y="119658"/>
                </a:lnTo>
                <a:lnTo>
                  <a:pt x="38862" y="119872"/>
                </a:lnTo>
                <a:lnTo>
                  <a:pt x="38314" y="119539"/>
                </a:lnTo>
                <a:lnTo>
                  <a:pt x="38552" y="118753"/>
                </a:lnTo>
                <a:lnTo>
                  <a:pt x="38529" y="118419"/>
                </a:lnTo>
                <a:lnTo>
                  <a:pt x="37743" y="117943"/>
                </a:lnTo>
                <a:lnTo>
                  <a:pt x="36314" y="118158"/>
                </a:lnTo>
                <a:lnTo>
                  <a:pt x="35147" y="118610"/>
                </a:lnTo>
                <a:lnTo>
                  <a:pt x="34600" y="119372"/>
                </a:lnTo>
                <a:lnTo>
                  <a:pt x="34147" y="120324"/>
                </a:lnTo>
                <a:lnTo>
                  <a:pt x="32742" y="120801"/>
                </a:lnTo>
                <a:lnTo>
                  <a:pt x="30599" y="120539"/>
                </a:lnTo>
                <a:lnTo>
                  <a:pt x="28646" y="119586"/>
                </a:lnTo>
                <a:lnTo>
                  <a:pt x="27027" y="117967"/>
                </a:lnTo>
                <a:lnTo>
                  <a:pt x="26098" y="116991"/>
                </a:lnTo>
                <a:lnTo>
                  <a:pt x="24813" y="116229"/>
                </a:lnTo>
                <a:lnTo>
                  <a:pt x="23003" y="116133"/>
                </a:lnTo>
                <a:lnTo>
                  <a:pt x="20884" y="115991"/>
                </a:lnTo>
                <a:lnTo>
                  <a:pt x="19931" y="115419"/>
                </a:lnTo>
                <a:lnTo>
                  <a:pt x="19693" y="114348"/>
                </a:lnTo>
                <a:lnTo>
                  <a:pt x="18764" y="113133"/>
                </a:lnTo>
                <a:lnTo>
                  <a:pt x="17955" y="112419"/>
                </a:lnTo>
                <a:lnTo>
                  <a:pt x="16740" y="112014"/>
                </a:lnTo>
                <a:lnTo>
                  <a:pt x="14668" y="111990"/>
                </a:lnTo>
                <a:lnTo>
                  <a:pt x="13383" y="111300"/>
                </a:lnTo>
                <a:lnTo>
                  <a:pt x="12049" y="110157"/>
                </a:lnTo>
                <a:lnTo>
                  <a:pt x="10382" y="109466"/>
                </a:lnTo>
                <a:lnTo>
                  <a:pt x="9096" y="109704"/>
                </a:lnTo>
                <a:lnTo>
                  <a:pt x="8049" y="110157"/>
                </a:lnTo>
                <a:lnTo>
                  <a:pt x="7525" y="109490"/>
                </a:lnTo>
                <a:close/>
              </a:path>
            </a:pathLst>
          </a:custGeom>
          <a:solidFill>
            <a:schemeClr val="accent1"/>
          </a:solidFill>
          <a:ln cap="flat" cmpd="sng" w="19050">
            <a:solidFill>
              <a:schemeClr val="dk1"/>
            </a:solidFill>
            <a:prstDash val="solid"/>
            <a:round/>
            <a:headEnd len="med" w="med" type="none"/>
            <a:tailEnd len="med" w="med" type="none"/>
          </a:ln>
        </p:spPr>
      </p:sp>
      <p:cxnSp>
        <p:nvCxnSpPr>
          <p:cNvPr id="80" name="Google Shape;80;p16"/>
          <p:cNvCxnSpPr/>
          <p:nvPr/>
        </p:nvCxnSpPr>
        <p:spPr>
          <a:xfrm>
            <a:off x="3788575" y="2168725"/>
            <a:ext cx="35700" cy="252300"/>
          </a:xfrm>
          <a:prstGeom prst="straightConnector1">
            <a:avLst/>
          </a:prstGeom>
          <a:noFill/>
          <a:ln cap="flat" cmpd="sng" w="28575">
            <a:solidFill>
              <a:srgbClr val="00FF00"/>
            </a:solidFill>
            <a:prstDash val="solid"/>
            <a:round/>
            <a:headEnd len="med" w="med" type="none"/>
            <a:tailEnd len="med" w="med" type="none"/>
          </a:ln>
        </p:spPr>
      </p:cxnSp>
      <p:cxnSp>
        <p:nvCxnSpPr>
          <p:cNvPr id="81" name="Google Shape;81;p16"/>
          <p:cNvCxnSpPr/>
          <p:nvPr/>
        </p:nvCxnSpPr>
        <p:spPr>
          <a:xfrm>
            <a:off x="2421100" y="3316275"/>
            <a:ext cx="1542000" cy="61500"/>
          </a:xfrm>
          <a:prstGeom prst="straightConnector1">
            <a:avLst/>
          </a:prstGeom>
          <a:noFill/>
          <a:ln cap="flat" cmpd="sng" w="28575">
            <a:solidFill>
              <a:srgbClr val="00FF00"/>
            </a:solidFill>
            <a:prstDash val="solid"/>
            <a:round/>
            <a:headEnd len="med" w="med" type="none"/>
            <a:tailEnd len="med" w="med" type="none"/>
          </a:ln>
        </p:spPr>
      </p:cxnSp>
      <p:cxnSp>
        <p:nvCxnSpPr>
          <p:cNvPr id="82" name="Google Shape;82;p16"/>
          <p:cNvCxnSpPr/>
          <p:nvPr/>
        </p:nvCxnSpPr>
        <p:spPr>
          <a:xfrm>
            <a:off x="3824900" y="2423200"/>
            <a:ext cx="251100" cy="404700"/>
          </a:xfrm>
          <a:prstGeom prst="straightConnector1">
            <a:avLst/>
          </a:prstGeom>
          <a:noFill/>
          <a:ln cap="flat" cmpd="sng" w="28575">
            <a:solidFill>
              <a:srgbClr val="00FF00"/>
            </a:solidFill>
            <a:prstDash val="solid"/>
            <a:round/>
            <a:headEnd len="med" w="med" type="none"/>
            <a:tailEnd len="med" w="med" type="none"/>
          </a:ln>
        </p:spPr>
      </p:cxnSp>
      <p:cxnSp>
        <p:nvCxnSpPr>
          <p:cNvPr id="83" name="Google Shape;83;p16"/>
          <p:cNvCxnSpPr/>
          <p:nvPr/>
        </p:nvCxnSpPr>
        <p:spPr>
          <a:xfrm flipH="1">
            <a:off x="3961950" y="2827550"/>
            <a:ext cx="115500" cy="549900"/>
          </a:xfrm>
          <a:prstGeom prst="straightConnector1">
            <a:avLst/>
          </a:prstGeom>
          <a:noFill/>
          <a:ln cap="flat" cmpd="sng" w="28575">
            <a:solidFill>
              <a:srgbClr val="00FF00"/>
            </a:solidFill>
            <a:prstDash val="solid"/>
            <a:round/>
            <a:headEnd len="med" w="med" type="none"/>
            <a:tailEnd len="med" w="med" type="none"/>
          </a:ln>
        </p:spPr>
      </p:cxnSp>
      <p:cxnSp>
        <p:nvCxnSpPr>
          <p:cNvPr id="84" name="Google Shape;84;p16"/>
          <p:cNvCxnSpPr/>
          <p:nvPr/>
        </p:nvCxnSpPr>
        <p:spPr>
          <a:xfrm flipH="1">
            <a:off x="4630050" y="3819325"/>
            <a:ext cx="311400" cy="98700"/>
          </a:xfrm>
          <a:prstGeom prst="straightConnector1">
            <a:avLst/>
          </a:prstGeom>
          <a:noFill/>
          <a:ln cap="flat" cmpd="sng" w="28575">
            <a:solidFill>
              <a:srgbClr val="00FF00"/>
            </a:solidFill>
            <a:prstDash val="solid"/>
            <a:round/>
            <a:headEnd len="med" w="med" type="none"/>
            <a:tailEnd len="med" w="med" type="none"/>
          </a:ln>
        </p:spPr>
      </p:cxnSp>
      <p:cxnSp>
        <p:nvCxnSpPr>
          <p:cNvPr id="85" name="Google Shape;85;p16"/>
          <p:cNvCxnSpPr/>
          <p:nvPr/>
        </p:nvCxnSpPr>
        <p:spPr>
          <a:xfrm>
            <a:off x="3962850" y="3379425"/>
            <a:ext cx="1800" cy="682200"/>
          </a:xfrm>
          <a:prstGeom prst="straightConnector1">
            <a:avLst/>
          </a:prstGeom>
          <a:noFill/>
          <a:ln cap="flat" cmpd="sng" w="28575">
            <a:solidFill>
              <a:srgbClr val="00FF00"/>
            </a:solidFill>
            <a:prstDash val="solid"/>
            <a:round/>
            <a:headEnd len="med" w="med" type="none"/>
            <a:tailEnd len="med" w="med" type="none"/>
          </a:ln>
        </p:spPr>
      </p:cxnSp>
      <p:cxnSp>
        <p:nvCxnSpPr>
          <p:cNvPr id="86" name="Google Shape;86;p16"/>
          <p:cNvCxnSpPr/>
          <p:nvPr/>
        </p:nvCxnSpPr>
        <p:spPr>
          <a:xfrm flipH="1" rot="10800000">
            <a:off x="3962850" y="3914350"/>
            <a:ext cx="669300" cy="147300"/>
          </a:xfrm>
          <a:prstGeom prst="straightConnector1">
            <a:avLst/>
          </a:prstGeom>
          <a:noFill/>
          <a:ln cap="flat" cmpd="sng" w="28575">
            <a:solidFill>
              <a:srgbClr val="00FF00"/>
            </a:solidFill>
            <a:prstDash val="solid"/>
            <a:round/>
            <a:headEnd len="med" w="med" type="none"/>
            <a:tailEnd len="med" w="med" type="none"/>
          </a:ln>
        </p:spPr>
      </p:cxnSp>
      <p:cxnSp>
        <p:nvCxnSpPr>
          <p:cNvPr id="87" name="Google Shape;87;p16"/>
          <p:cNvCxnSpPr/>
          <p:nvPr/>
        </p:nvCxnSpPr>
        <p:spPr>
          <a:xfrm flipH="1">
            <a:off x="4082050" y="2453025"/>
            <a:ext cx="687900" cy="378600"/>
          </a:xfrm>
          <a:prstGeom prst="straightConnector1">
            <a:avLst/>
          </a:prstGeom>
          <a:noFill/>
          <a:ln cap="flat" cmpd="sng" w="28575">
            <a:solidFill>
              <a:srgbClr val="00FF00"/>
            </a:solidFill>
            <a:prstDash val="solid"/>
            <a:round/>
            <a:headEnd len="med" w="med" type="none"/>
            <a:tailEnd len="med" w="med" type="none"/>
          </a:ln>
        </p:spPr>
      </p:cxnSp>
      <p:cxnSp>
        <p:nvCxnSpPr>
          <p:cNvPr id="88" name="Google Shape;88;p16"/>
          <p:cNvCxnSpPr/>
          <p:nvPr/>
        </p:nvCxnSpPr>
        <p:spPr>
          <a:xfrm>
            <a:off x="4769950" y="2451150"/>
            <a:ext cx="1144500" cy="207000"/>
          </a:xfrm>
          <a:prstGeom prst="straightConnector1">
            <a:avLst/>
          </a:prstGeom>
          <a:noFill/>
          <a:ln cap="flat" cmpd="sng" w="28575">
            <a:solidFill>
              <a:srgbClr val="00FF00"/>
            </a:solidFill>
            <a:prstDash val="solid"/>
            <a:round/>
            <a:headEnd len="med" w="med" type="none"/>
            <a:tailEnd len="med" w="med" type="none"/>
          </a:ln>
        </p:spPr>
      </p:cxnSp>
      <p:cxnSp>
        <p:nvCxnSpPr>
          <p:cNvPr id="89" name="Google Shape;89;p16"/>
          <p:cNvCxnSpPr/>
          <p:nvPr/>
        </p:nvCxnSpPr>
        <p:spPr>
          <a:xfrm flipH="1" rot="10800000">
            <a:off x="5916300" y="1968350"/>
            <a:ext cx="199500" cy="689700"/>
          </a:xfrm>
          <a:prstGeom prst="straightConnector1">
            <a:avLst/>
          </a:prstGeom>
          <a:noFill/>
          <a:ln cap="flat" cmpd="sng" w="28575">
            <a:solidFill>
              <a:srgbClr val="00FF00"/>
            </a:solidFill>
            <a:prstDash val="solid"/>
            <a:round/>
            <a:headEnd len="med" w="med" type="none"/>
            <a:tailEnd len="med" w="med" type="none"/>
          </a:ln>
        </p:spPr>
      </p:cxnSp>
      <p:sp>
        <p:nvSpPr>
          <p:cNvPr id="90" name="Google Shape;90;p16"/>
          <p:cNvSpPr/>
          <p:nvPr/>
        </p:nvSpPr>
        <p:spPr>
          <a:xfrm>
            <a:off x="2364225" y="325727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p:nvPr/>
        </p:nvSpPr>
        <p:spPr>
          <a:xfrm>
            <a:off x="3904350" y="399907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p:nvPr/>
        </p:nvSpPr>
        <p:spPr>
          <a:xfrm>
            <a:off x="3904350" y="3318350"/>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6"/>
          <p:cNvSpPr/>
          <p:nvPr/>
        </p:nvSpPr>
        <p:spPr>
          <a:xfrm>
            <a:off x="4572000" y="385622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6"/>
          <p:cNvSpPr/>
          <p:nvPr/>
        </p:nvSpPr>
        <p:spPr>
          <a:xfrm>
            <a:off x="4881300" y="376242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p:nvPr/>
        </p:nvSpPr>
        <p:spPr>
          <a:xfrm>
            <a:off x="4019550" y="277082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6"/>
          <p:cNvSpPr/>
          <p:nvPr/>
        </p:nvSpPr>
        <p:spPr>
          <a:xfrm>
            <a:off x="5855100" y="2594950"/>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6"/>
          <p:cNvSpPr/>
          <p:nvPr/>
        </p:nvSpPr>
        <p:spPr>
          <a:xfrm>
            <a:off x="4711625" y="2393500"/>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6"/>
          <p:cNvSpPr/>
          <p:nvPr/>
        </p:nvSpPr>
        <p:spPr>
          <a:xfrm>
            <a:off x="3764800" y="2366850"/>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6"/>
          <p:cNvSpPr/>
          <p:nvPr/>
        </p:nvSpPr>
        <p:spPr>
          <a:xfrm>
            <a:off x="3730675" y="211137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p:nvPr/>
        </p:nvSpPr>
        <p:spPr>
          <a:xfrm>
            <a:off x="6059125" y="1910625"/>
            <a:ext cx="115200" cy="115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17"/>
          <p:cNvPicPr preferRelativeResize="0"/>
          <p:nvPr/>
        </p:nvPicPr>
        <p:blipFill>
          <a:blip r:embed="rId3">
            <a:alphaModFix/>
          </a:blip>
          <a:stretch>
            <a:fillRect/>
          </a:stretch>
        </p:blipFill>
        <p:spPr>
          <a:xfrm>
            <a:off x="0" y="0"/>
            <a:ext cx="4572000" cy="2400302"/>
          </a:xfrm>
          <a:prstGeom prst="rect">
            <a:avLst/>
          </a:prstGeom>
          <a:noFill/>
          <a:ln>
            <a:noFill/>
          </a:ln>
        </p:spPr>
      </p:pic>
      <p:pic>
        <p:nvPicPr>
          <p:cNvPr id="108" name="Google Shape;108;p17"/>
          <p:cNvPicPr preferRelativeResize="0"/>
          <p:nvPr/>
        </p:nvPicPr>
        <p:blipFill>
          <a:blip r:embed="rId4">
            <a:alphaModFix/>
          </a:blip>
          <a:stretch>
            <a:fillRect/>
          </a:stretch>
        </p:blipFill>
        <p:spPr>
          <a:xfrm>
            <a:off x="4572000" y="0"/>
            <a:ext cx="4572000" cy="2400300"/>
          </a:xfrm>
          <a:prstGeom prst="rect">
            <a:avLst/>
          </a:prstGeom>
          <a:noFill/>
          <a:ln>
            <a:noFill/>
          </a:ln>
        </p:spPr>
      </p:pic>
      <p:pic>
        <p:nvPicPr>
          <p:cNvPr id="109" name="Google Shape;109;p17"/>
          <p:cNvPicPr preferRelativeResize="0"/>
          <p:nvPr/>
        </p:nvPicPr>
        <p:blipFill>
          <a:blip r:embed="rId5">
            <a:alphaModFix/>
          </a:blip>
          <a:stretch>
            <a:fillRect/>
          </a:stretch>
        </p:blipFill>
        <p:spPr>
          <a:xfrm>
            <a:off x="4572000" y="2400300"/>
            <a:ext cx="4572000" cy="2743200"/>
          </a:xfrm>
          <a:prstGeom prst="rect">
            <a:avLst/>
          </a:prstGeom>
          <a:noFill/>
          <a:ln>
            <a:noFill/>
          </a:ln>
        </p:spPr>
      </p:pic>
      <p:pic>
        <p:nvPicPr>
          <p:cNvPr id="110" name="Google Shape;110;p17"/>
          <p:cNvPicPr preferRelativeResize="0"/>
          <p:nvPr/>
        </p:nvPicPr>
        <p:blipFill>
          <a:blip r:embed="rId6">
            <a:alphaModFix/>
          </a:blip>
          <a:stretch>
            <a:fillRect/>
          </a:stretch>
        </p:blipFill>
        <p:spPr>
          <a:xfrm>
            <a:off x="0" y="2400300"/>
            <a:ext cx="4572000" cy="274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Minimum Spanning Tree</a:t>
            </a:r>
            <a:endParaRPr>
              <a:latin typeface="Times New Roman"/>
              <a:ea typeface="Times New Roman"/>
              <a:cs typeface="Times New Roman"/>
              <a:sym typeface="Times New Roman"/>
            </a:endParaRPr>
          </a:p>
        </p:txBody>
      </p:sp>
      <p:sp>
        <p:nvSpPr>
          <p:cNvPr id="116" name="Google Shape;11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18"/>
          <p:cNvPicPr preferRelativeResize="0"/>
          <p:nvPr/>
        </p:nvPicPr>
        <p:blipFill>
          <a:blip r:embed="rId3">
            <a:alphaModFix/>
          </a:blip>
          <a:stretch>
            <a:fillRect/>
          </a:stretch>
        </p:blipFill>
        <p:spPr>
          <a:xfrm>
            <a:off x="2270763" y="1152475"/>
            <a:ext cx="4602474" cy="3720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Prim’s Algorithm</a:t>
            </a:r>
            <a:endParaRPr>
              <a:latin typeface="Times New Roman"/>
              <a:ea typeface="Times New Roman"/>
              <a:cs typeface="Times New Roman"/>
              <a:sym typeface="Times New Roman"/>
            </a:endParaRPr>
          </a:p>
        </p:txBody>
      </p:sp>
      <p:sp>
        <p:nvSpPr>
          <p:cNvPr id="123" name="Google Shape;123;p19"/>
          <p:cNvSpPr txBox="1"/>
          <p:nvPr>
            <p:ph idx="1" type="body"/>
          </p:nvPr>
        </p:nvSpPr>
        <p:spPr>
          <a:xfrm>
            <a:off x="311700" y="11430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p>
          <a:p>
            <a:pPr indent="0" lvl="0" marL="0" rtl="0" algn="l">
              <a:spcBef>
                <a:spcPts val="0"/>
              </a:spcBef>
              <a:spcAft>
                <a:spcPts val="1200"/>
              </a:spcAft>
              <a:buNone/>
            </a:pPr>
            <a:r>
              <a:t/>
            </a:r>
            <a:endParaRPr/>
          </a:p>
        </p:txBody>
      </p:sp>
      <p:sp>
        <p:nvSpPr>
          <p:cNvPr id="124" name="Google Shape;124;p19"/>
          <p:cNvSpPr/>
          <p:nvPr/>
        </p:nvSpPr>
        <p:spPr>
          <a:xfrm>
            <a:off x="1089775" y="12635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1</a:t>
            </a:r>
            <a:endParaRPr>
              <a:solidFill>
                <a:schemeClr val="dk1"/>
              </a:solidFill>
            </a:endParaRPr>
          </a:p>
        </p:txBody>
      </p:sp>
      <p:sp>
        <p:nvSpPr>
          <p:cNvPr id="125" name="Google Shape;125;p19"/>
          <p:cNvSpPr/>
          <p:nvPr/>
        </p:nvSpPr>
        <p:spPr>
          <a:xfrm>
            <a:off x="2374200" y="154060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26" name="Google Shape;126;p19"/>
          <p:cNvSpPr/>
          <p:nvPr/>
        </p:nvSpPr>
        <p:spPr>
          <a:xfrm>
            <a:off x="3060025" y="220512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27" name="Google Shape;127;p19"/>
          <p:cNvSpPr/>
          <p:nvPr/>
        </p:nvSpPr>
        <p:spPr>
          <a:xfrm>
            <a:off x="2587725" y="33439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28" name="Google Shape;128;p19"/>
          <p:cNvSpPr/>
          <p:nvPr/>
        </p:nvSpPr>
        <p:spPr>
          <a:xfrm>
            <a:off x="1279250" y="34540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29" name="Google Shape;129;p19"/>
          <p:cNvSpPr/>
          <p:nvPr/>
        </p:nvSpPr>
        <p:spPr>
          <a:xfrm>
            <a:off x="525075" y="23898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130" name="Google Shape;130;p19"/>
          <p:cNvSpPr/>
          <p:nvPr/>
        </p:nvSpPr>
        <p:spPr>
          <a:xfrm>
            <a:off x="1661025" y="23275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131" name="Google Shape;131;p19"/>
          <p:cNvCxnSpPr>
            <a:stCxn id="124" idx="6"/>
            <a:endCxn id="125" idx="1"/>
          </p:cNvCxnSpPr>
          <p:nvPr/>
        </p:nvCxnSpPr>
        <p:spPr>
          <a:xfrm>
            <a:off x="1611175" y="1507775"/>
            <a:ext cx="839400" cy="1044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19"/>
          <p:cNvCxnSpPr>
            <a:stCxn id="125" idx="6"/>
            <a:endCxn id="126" idx="1"/>
          </p:cNvCxnSpPr>
          <p:nvPr/>
        </p:nvCxnSpPr>
        <p:spPr>
          <a:xfrm>
            <a:off x="2895600" y="1784800"/>
            <a:ext cx="240900" cy="491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19"/>
          <p:cNvCxnSpPr>
            <a:stCxn id="126" idx="4"/>
            <a:endCxn id="127" idx="7"/>
          </p:cNvCxnSpPr>
          <p:nvPr/>
        </p:nvCxnSpPr>
        <p:spPr>
          <a:xfrm flipH="1">
            <a:off x="3032725" y="2693525"/>
            <a:ext cx="288000" cy="7218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19"/>
          <p:cNvCxnSpPr>
            <a:stCxn id="127" idx="2"/>
            <a:endCxn id="128" idx="6"/>
          </p:cNvCxnSpPr>
          <p:nvPr/>
        </p:nvCxnSpPr>
        <p:spPr>
          <a:xfrm flipH="1">
            <a:off x="1800525" y="3588150"/>
            <a:ext cx="787200" cy="1101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19"/>
          <p:cNvCxnSpPr>
            <a:stCxn id="128" idx="1"/>
            <a:endCxn id="129" idx="4"/>
          </p:cNvCxnSpPr>
          <p:nvPr/>
        </p:nvCxnSpPr>
        <p:spPr>
          <a:xfrm rot="10800000">
            <a:off x="785907" y="2878175"/>
            <a:ext cx="569700" cy="6474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19"/>
          <p:cNvCxnSpPr>
            <a:stCxn id="129" idx="0"/>
            <a:endCxn id="124" idx="3"/>
          </p:cNvCxnSpPr>
          <p:nvPr/>
        </p:nvCxnSpPr>
        <p:spPr>
          <a:xfrm flipH="1" rot="10800000">
            <a:off x="785775" y="1680375"/>
            <a:ext cx="380400" cy="7095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19"/>
          <p:cNvCxnSpPr>
            <a:stCxn id="128" idx="7"/>
            <a:endCxn id="130" idx="4"/>
          </p:cNvCxnSpPr>
          <p:nvPr/>
        </p:nvCxnSpPr>
        <p:spPr>
          <a:xfrm flipH="1" rot="10800000">
            <a:off x="1724293" y="2816075"/>
            <a:ext cx="197400" cy="7095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19"/>
          <p:cNvCxnSpPr>
            <a:stCxn id="130" idx="7"/>
            <a:endCxn id="125" idx="3"/>
          </p:cNvCxnSpPr>
          <p:nvPr/>
        </p:nvCxnSpPr>
        <p:spPr>
          <a:xfrm flipH="1" rot="10800000">
            <a:off x="2106068" y="1957475"/>
            <a:ext cx="344400" cy="441600"/>
          </a:xfrm>
          <a:prstGeom prst="straightConnector1">
            <a:avLst/>
          </a:prstGeom>
          <a:noFill/>
          <a:ln cap="flat" cmpd="sng" w="9525">
            <a:solidFill>
              <a:schemeClr val="dk2"/>
            </a:solidFill>
            <a:prstDash val="solid"/>
            <a:round/>
            <a:headEnd len="med" w="med" type="none"/>
            <a:tailEnd len="med" w="med" type="none"/>
          </a:ln>
        </p:spPr>
      </p:cxnSp>
      <p:cxnSp>
        <p:nvCxnSpPr>
          <p:cNvPr id="139" name="Google Shape;139;p19"/>
          <p:cNvCxnSpPr>
            <a:stCxn id="127" idx="1"/>
            <a:endCxn id="130" idx="5"/>
          </p:cNvCxnSpPr>
          <p:nvPr/>
        </p:nvCxnSpPr>
        <p:spPr>
          <a:xfrm rot="10800000">
            <a:off x="2106082" y="2744375"/>
            <a:ext cx="558000" cy="671100"/>
          </a:xfrm>
          <a:prstGeom prst="straightConnector1">
            <a:avLst/>
          </a:prstGeom>
          <a:noFill/>
          <a:ln cap="flat" cmpd="sng" w="9525">
            <a:solidFill>
              <a:schemeClr val="dk2"/>
            </a:solidFill>
            <a:prstDash val="solid"/>
            <a:round/>
            <a:headEnd len="med" w="med" type="none"/>
            <a:tailEnd len="med" w="med" type="none"/>
          </a:ln>
        </p:spPr>
      </p:cxnSp>
      <p:sp>
        <p:nvSpPr>
          <p:cNvPr id="140" name="Google Shape;140;p19"/>
          <p:cNvSpPr txBox="1"/>
          <p:nvPr/>
        </p:nvSpPr>
        <p:spPr>
          <a:xfrm>
            <a:off x="602750" y="17519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15</a:t>
            </a:r>
            <a:endParaRPr/>
          </a:p>
        </p:txBody>
      </p:sp>
      <p:sp>
        <p:nvSpPr>
          <p:cNvPr id="141" name="Google Shape;141;p19"/>
          <p:cNvSpPr txBox="1"/>
          <p:nvPr/>
        </p:nvSpPr>
        <p:spPr>
          <a:xfrm>
            <a:off x="1921700" y="1225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42</a:t>
            </a:r>
            <a:endParaRPr>
              <a:solidFill>
                <a:schemeClr val="dk1"/>
              </a:solidFill>
            </a:endParaRPr>
          </a:p>
        </p:txBody>
      </p:sp>
      <p:sp>
        <p:nvSpPr>
          <p:cNvPr id="142" name="Google Shape;142;p19"/>
          <p:cNvSpPr txBox="1"/>
          <p:nvPr/>
        </p:nvSpPr>
        <p:spPr>
          <a:xfrm>
            <a:off x="602750" y="31372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38</a:t>
            </a:r>
            <a:endParaRPr/>
          </a:p>
        </p:txBody>
      </p:sp>
      <p:sp>
        <p:nvSpPr>
          <p:cNvPr id="143" name="Google Shape;143;p19"/>
          <p:cNvSpPr txBox="1"/>
          <p:nvPr/>
        </p:nvSpPr>
        <p:spPr>
          <a:xfrm>
            <a:off x="1921700" y="3760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33</a:t>
            </a:r>
            <a:endParaRPr/>
          </a:p>
        </p:txBody>
      </p:sp>
      <p:sp>
        <p:nvSpPr>
          <p:cNvPr id="144" name="Google Shape;144;p19"/>
          <p:cNvSpPr txBox="1"/>
          <p:nvPr/>
        </p:nvSpPr>
        <p:spPr>
          <a:xfrm>
            <a:off x="142957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36</a:t>
            </a:r>
            <a:endParaRPr/>
          </a:p>
        </p:txBody>
      </p:sp>
      <p:sp>
        <p:nvSpPr>
          <p:cNvPr id="145" name="Google Shape;145;p19"/>
          <p:cNvSpPr txBox="1"/>
          <p:nvPr/>
        </p:nvSpPr>
        <p:spPr>
          <a:xfrm>
            <a:off x="2383525" y="289026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27</a:t>
            </a:r>
            <a:endParaRPr>
              <a:solidFill>
                <a:schemeClr val="dk1"/>
              </a:solidFill>
            </a:endParaRPr>
          </a:p>
        </p:txBody>
      </p:sp>
      <p:sp>
        <p:nvSpPr>
          <p:cNvPr id="146" name="Google Shape;146;p19"/>
          <p:cNvSpPr txBox="1"/>
          <p:nvPr/>
        </p:nvSpPr>
        <p:spPr>
          <a:xfrm>
            <a:off x="328592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18</a:t>
            </a:r>
            <a:endParaRPr>
              <a:solidFill>
                <a:schemeClr val="dk1"/>
              </a:solidFill>
            </a:endParaRPr>
          </a:p>
        </p:txBody>
      </p:sp>
      <p:sp>
        <p:nvSpPr>
          <p:cNvPr id="147" name="Google Shape;147;p19"/>
          <p:cNvSpPr txBox="1"/>
          <p:nvPr/>
        </p:nvSpPr>
        <p:spPr>
          <a:xfrm>
            <a:off x="3032725" y="18506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24</a:t>
            </a:r>
            <a:endParaRPr>
              <a:solidFill>
                <a:schemeClr val="dk1"/>
              </a:solidFill>
            </a:endParaRPr>
          </a:p>
        </p:txBody>
      </p:sp>
      <p:sp>
        <p:nvSpPr>
          <p:cNvPr id="148" name="Google Shape;148;p19"/>
          <p:cNvSpPr txBox="1"/>
          <p:nvPr/>
        </p:nvSpPr>
        <p:spPr>
          <a:xfrm>
            <a:off x="1964100" y="18665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21</a:t>
            </a:r>
            <a:endParaRPr>
              <a:solidFill>
                <a:schemeClr val="dk1"/>
              </a:solidFill>
            </a:endParaRPr>
          </a:p>
        </p:txBody>
      </p:sp>
      <p:sp>
        <p:nvSpPr>
          <p:cNvPr id="149" name="Google Shape;149;p19"/>
          <p:cNvSpPr txBox="1"/>
          <p:nvPr/>
        </p:nvSpPr>
        <p:spPr>
          <a:xfrm>
            <a:off x="4391950" y="1188400"/>
            <a:ext cx="4440300" cy="3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Greedy approach</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Start with any edge.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Add the smallest edge that connects a vertex in the MST to a vertex outside it.</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Repeat this process until all vertices are included.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Prim’s Algorithm: Example</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5" name="Google Shape;15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6" name="Google Shape;15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p>
          <a:p>
            <a:pPr indent="0" lvl="0" marL="0" rtl="0" algn="l">
              <a:spcBef>
                <a:spcPts val="0"/>
              </a:spcBef>
              <a:spcAft>
                <a:spcPts val="1200"/>
              </a:spcAft>
              <a:buNone/>
            </a:pPr>
            <a:r>
              <a:t/>
            </a:r>
            <a:endParaRPr/>
          </a:p>
        </p:txBody>
      </p:sp>
      <p:sp>
        <p:nvSpPr>
          <p:cNvPr id="157" name="Google Shape;157;p20"/>
          <p:cNvSpPr txBox="1"/>
          <p:nvPr>
            <p:ph idx="1" type="body"/>
          </p:nvPr>
        </p:nvSpPr>
        <p:spPr>
          <a:xfrm>
            <a:off x="4341250" y="11242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p>
          <a:p>
            <a:pPr indent="0" lvl="0" marL="0" rtl="0" algn="l">
              <a:spcBef>
                <a:spcPts val="0"/>
              </a:spcBef>
              <a:spcAft>
                <a:spcPts val="1200"/>
              </a:spcAft>
              <a:buNone/>
            </a:pPr>
            <a:r>
              <a:t/>
            </a:r>
            <a:endParaRPr/>
          </a:p>
        </p:txBody>
      </p:sp>
      <p:sp>
        <p:nvSpPr>
          <p:cNvPr id="158" name="Google Shape;158;p20"/>
          <p:cNvSpPr/>
          <p:nvPr/>
        </p:nvSpPr>
        <p:spPr>
          <a:xfrm>
            <a:off x="1089775" y="12635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59" name="Google Shape;159;p20"/>
          <p:cNvSpPr/>
          <p:nvPr/>
        </p:nvSpPr>
        <p:spPr>
          <a:xfrm>
            <a:off x="2374200" y="154060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60" name="Google Shape;160;p20"/>
          <p:cNvSpPr/>
          <p:nvPr/>
        </p:nvSpPr>
        <p:spPr>
          <a:xfrm>
            <a:off x="3060025" y="220512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61" name="Google Shape;161;p20"/>
          <p:cNvSpPr/>
          <p:nvPr/>
        </p:nvSpPr>
        <p:spPr>
          <a:xfrm>
            <a:off x="2587725" y="33439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62" name="Google Shape;162;p20"/>
          <p:cNvSpPr/>
          <p:nvPr/>
        </p:nvSpPr>
        <p:spPr>
          <a:xfrm>
            <a:off x="1279250" y="34540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63" name="Google Shape;163;p20"/>
          <p:cNvSpPr/>
          <p:nvPr/>
        </p:nvSpPr>
        <p:spPr>
          <a:xfrm>
            <a:off x="525075" y="23898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164" name="Google Shape;164;p20"/>
          <p:cNvSpPr/>
          <p:nvPr/>
        </p:nvSpPr>
        <p:spPr>
          <a:xfrm>
            <a:off x="1661025" y="23275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165" name="Google Shape;165;p20"/>
          <p:cNvCxnSpPr>
            <a:stCxn id="158" idx="6"/>
            <a:endCxn id="159" idx="1"/>
          </p:cNvCxnSpPr>
          <p:nvPr/>
        </p:nvCxnSpPr>
        <p:spPr>
          <a:xfrm>
            <a:off x="1611175" y="1507775"/>
            <a:ext cx="839400" cy="104400"/>
          </a:xfrm>
          <a:prstGeom prst="straightConnector1">
            <a:avLst/>
          </a:prstGeom>
          <a:noFill/>
          <a:ln cap="flat" cmpd="sng" w="9525">
            <a:solidFill>
              <a:schemeClr val="dk2"/>
            </a:solidFill>
            <a:prstDash val="solid"/>
            <a:round/>
            <a:headEnd len="med" w="med" type="none"/>
            <a:tailEnd len="med" w="med" type="none"/>
          </a:ln>
        </p:spPr>
      </p:cxnSp>
      <p:cxnSp>
        <p:nvCxnSpPr>
          <p:cNvPr id="166" name="Google Shape;166;p20"/>
          <p:cNvCxnSpPr>
            <a:stCxn id="159" idx="6"/>
            <a:endCxn id="160" idx="1"/>
          </p:cNvCxnSpPr>
          <p:nvPr/>
        </p:nvCxnSpPr>
        <p:spPr>
          <a:xfrm>
            <a:off x="2895600" y="1784800"/>
            <a:ext cx="240900" cy="491700"/>
          </a:xfrm>
          <a:prstGeom prst="straightConnector1">
            <a:avLst/>
          </a:prstGeom>
          <a:noFill/>
          <a:ln cap="flat" cmpd="sng" w="9525">
            <a:solidFill>
              <a:schemeClr val="dk2"/>
            </a:solidFill>
            <a:prstDash val="solid"/>
            <a:round/>
            <a:headEnd len="med" w="med" type="none"/>
            <a:tailEnd len="med" w="med" type="none"/>
          </a:ln>
        </p:spPr>
      </p:cxnSp>
      <p:cxnSp>
        <p:nvCxnSpPr>
          <p:cNvPr id="167" name="Google Shape;167;p20"/>
          <p:cNvCxnSpPr>
            <a:stCxn id="160" idx="4"/>
            <a:endCxn id="161" idx="7"/>
          </p:cNvCxnSpPr>
          <p:nvPr/>
        </p:nvCxnSpPr>
        <p:spPr>
          <a:xfrm flipH="1">
            <a:off x="3032725" y="2693525"/>
            <a:ext cx="288000" cy="721800"/>
          </a:xfrm>
          <a:prstGeom prst="straightConnector1">
            <a:avLst/>
          </a:prstGeom>
          <a:noFill/>
          <a:ln cap="flat" cmpd="sng" w="9525">
            <a:solidFill>
              <a:schemeClr val="dk2"/>
            </a:solidFill>
            <a:prstDash val="solid"/>
            <a:round/>
            <a:headEnd len="med" w="med" type="none"/>
            <a:tailEnd len="med" w="med" type="none"/>
          </a:ln>
        </p:spPr>
      </p:cxnSp>
      <p:cxnSp>
        <p:nvCxnSpPr>
          <p:cNvPr id="168" name="Google Shape;168;p20"/>
          <p:cNvCxnSpPr>
            <a:stCxn id="161" idx="2"/>
            <a:endCxn id="162" idx="6"/>
          </p:cNvCxnSpPr>
          <p:nvPr/>
        </p:nvCxnSpPr>
        <p:spPr>
          <a:xfrm flipH="1">
            <a:off x="1800525" y="3588150"/>
            <a:ext cx="787200" cy="110100"/>
          </a:xfrm>
          <a:prstGeom prst="straightConnector1">
            <a:avLst/>
          </a:prstGeom>
          <a:noFill/>
          <a:ln cap="flat" cmpd="sng" w="9525">
            <a:solidFill>
              <a:schemeClr val="dk2"/>
            </a:solidFill>
            <a:prstDash val="solid"/>
            <a:round/>
            <a:headEnd len="med" w="med" type="none"/>
            <a:tailEnd len="med" w="med" type="none"/>
          </a:ln>
        </p:spPr>
      </p:cxnSp>
      <p:cxnSp>
        <p:nvCxnSpPr>
          <p:cNvPr id="169" name="Google Shape;169;p20"/>
          <p:cNvCxnSpPr>
            <a:stCxn id="162" idx="1"/>
            <a:endCxn id="163" idx="4"/>
          </p:cNvCxnSpPr>
          <p:nvPr/>
        </p:nvCxnSpPr>
        <p:spPr>
          <a:xfrm rot="10800000">
            <a:off x="785907" y="2878175"/>
            <a:ext cx="569700" cy="647400"/>
          </a:xfrm>
          <a:prstGeom prst="straightConnector1">
            <a:avLst/>
          </a:prstGeom>
          <a:noFill/>
          <a:ln cap="flat" cmpd="sng" w="9525">
            <a:solidFill>
              <a:schemeClr val="dk2"/>
            </a:solidFill>
            <a:prstDash val="solid"/>
            <a:round/>
            <a:headEnd len="med" w="med" type="none"/>
            <a:tailEnd len="med" w="med" type="none"/>
          </a:ln>
        </p:spPr>
      </p:cxnSp>
      <p:cxnSp>
        <p:nvCxnSpPr>
          <p:cNvPr id="170" name="Google Shape;170;p20"/>
          <p:cNvCxnSpPr>
            <a:stCxn id="163" idx="0"/>
            <a:endCxn id="158" idx="3"/>
          </p:cNvCxnSpPr>
          <p:nvPr/>
        </p:nvCxnSpPr>
        <p:spPr>
          <a:xfrm flipH="1" rot="10800000">
            <a:off x="785775" y="1680375"/>
            <a:ext cx="380400" cy="709500"/>
          </a:xfrm>
          <a:prstGeom prst="straightConnector1">
            <a:avLst/>
          </a:prstGeom>
          <a:noFill/>
          <a:ln cap="flat" cmpd="sng" w="9525">
            <a:solidFill>
              <a:schemeClr val="dk2"/>
            </a:solidFill>
            <a:prstDash val="solid"/>
            <a:round/>
            <a:headEnd len="med" w="med" type="none"/>
            <a:tailEnd len="med" w="med" type="none"/>
          </a:ln>
        </p:spPr>
      </p:cxnSp>
      <p:cxnSp>
        <p:nvCxnSpPr>
          <p:cNvPr id="171" name="Google Shape;171;p20"/>
          <p:cNvCxnSpPr>
            <a:stCxn id="162" idx="7"/>
            <a:endCxn id="164" idx="4"/>
          </p:cNvCxnSpPr>
          <p:nvPr/>
        </p:nvCxnSpPr>
        <p:spPr>
          <a:xfrm flipH="1" rot="10800000">
            <a:off x="1724293" y="2816075"/>
            <a:ext cx="197400" cy="7095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20"/>
          <p:cNvCxnSpPr>
            <a:stCxn id="164" idx="7"/>
            <a:endCxn id="159" idx="3"/>
          </p:cNvCxnSpPr>
          <p:nvPr/>
        </p:nvCxnSpPr>
        <p:spPr>
          <a:xfrm flipH="1" rot="10800000">
            <a:off x="2106068" y="1957475"/>
            <a:ext cx="344400" cy="4416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20"/>
          <p:cNvCxnSpPr>
            <a:stCxn id="161" idx="1"/>
            <a:endCxn id="164" idx="5"/>
          </p:cNvCxnSpPr>
          <p:nvPr/>
        </p:nvCxnSpPr>
        <p:spPr>
          <a:xfrm rot="10800000">
            <a:off x="2106082" y="2744375"/>
            <a:ext cx="558000" cy="671100"/>
          </a:xfrm>
          <a:prstGeom prst="straightConnector1">
            <a:avLst/>
          </a:prstGeom>
          <a:noFill/>
          <a:ln cap="flat" cmpd="sng" w="9525">
            <a:solidFill>
              <a:schemeClr val="dk2"/>
            </a:solidFill>
            <a:prstDash val="solid"/>
            <a:round/>
            <a:headEnd len="med" w="med" type="none"/>
            <a:tailEnd len="med" w="med" type="none"/>
          </a:ln>
        </p:spPr>
      </p:cxnSp>
      <p:sp>
        <p:nvSpPr>
          <p:cNvPr id="174" name="Google Shape;174;p20"/>
          <p:cNvSpPr txBox="1"/>
          <p:nvPr/>
        </p:nvSpPr>
        <p:spPr>
          <a:xfrm>
            <a:off x="602750" y="17519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15</a:t>
            </a:r>
            <a:endParaRPr>
              <a:solidFill>
                <a:schemeClr val="dk2"/>
              </a:solidFill>
            </a:endParaRPr>
          </a:p>
        </p:txBody>
      </p:sp>
      <p:sp>
        <p:nvSpPr>
          <p:cNvPr id="175" name="Google Shape;175;p20"/>
          <p:cNvSpPr txBox="1"/>
          <p:nvPr/>
        </p:nvSpPr>
        <p:spPr>
          <a:xfrm>
            <a:off x="1921700" y="1225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42</a:t>
            </a:r>
            <a:endParaRPr>
              <a:solidFill>
                <a:schemeClr val="dk2"/>
              </a:solidFill>
            </a:endParaRPr>
          </a:p>
        </p:txBody>
      </p:sp>
      <p:sp>
        <p:nvSpPr>
          <p:cNvPr id="176" name="Google Shape;176;p20"/>
          <p:cNvSpPr txBox="1"/>
          <p:nvPr/>
        </p:nvSpPr>
        <p:spPr>
          <a:xfrm>
            <a:off x="602750" y="31372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38</a:t>
            </a:r>
            <a:endParaRPr>
              <a:solidFill>
                <a:schemeClr val="dk2"/>
              </a:solidFill>
            </a:endParaRPr>
          </a:p>
        </p:txBody>
      </p:sp>
      <p:sp>
        <p:nvSpPr>
          <p:cNvPr id="177" name="Google Shape;177;p20"/>
          <p:cNvSpPr txBox="1"/>
          <p:nvPr/>
        </p:nvSpPr>
        <p:spPr>
          <a:xfrm>
            <a:off x="1921700" y="3760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33</a:t>
            </a:r>
            <a:endParaRPr>
              <a:solidFill>
                <a:schemeClr val="dk2"/>
              </a:solidFill>
            </a:endParaRPr>
          </a:p>
        </p:txBody>
      </p:sp>
      <p:sp>
        <p:nvSpPr>
          <p:cNvPr id="178" name="Google Shape;178;p20"/>
          <p:cNvSpPr txBox="1"/>
          <p:nvPr/>
        </p:nvSpPr>
        <p:spPr>
          <a:xfrm>
            <a:off x="142957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36</a:t>
            </a:r>
            <a:endParaRPr>
              <a:solidFill>
                <a:schemeClr val="dk2"/>
              </a:solidFill>
            </a:endParaRPr>
          </a:p>
        </p:txBody>
      </p:sp>
      <p:sp>
        <p:nvSpPr>
          <p:cNvPr id="179" name="Google Shape;179;p20"/>
          <p:cNvSpPr txBox="1"/>
          <p:nvPr/>
        </p:nvSpPr>
        <p:spPr>
          <a:xfrm>
            <a:off x="2383525" y="289026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27</a:t>
            </a:r>
            <a:endParaRPr>
              <a:solidFill>
                <a:schemeClr val="dk2"/>
              </a:solidFill>
            </a:endParaRPr>
          </a:p>
        </p:txBody>
      </p:sp>
      <p:sp>
        <p:nvSpPr>
          <p:cNvPr id="180" name="Google Shape;180;p20"/>
          <p:cNvSpPr txBox="1"/>
          <p:nvPr/>
        </p:nvSpPr>
        <p:spPr>
          <a:xfrm>
            <a:off x="328592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18</a:t>
            </a:r>
            <a:endParaRPr>
              <a:solidFill>
                <a:schemeClr val="dk2"/>
              </a:solidFill>
            </a:endParaRPr>
          </a:p>
        </p:txBody>
      </p:sp>
      <p:sp>
        <p:nvSpPr>
          <p:cNvPr id="181" name="Google Shape;181;p20"/>
          <p:cNvSpPr txBox="1"/>
          <p:nvPr/>
        </p:nvSpPr>
        <p:spPr>
          <a:xfrm>
            <a:off x="3032725" y="18506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24</a:t>
            </a:r>
            <a:endParaRPr>
              <a:solidFill>
                <a:schemeClr val="dk2"/>
              </a:solidFill>
            </a:endParaRPr>
          </a:p>
        </p:txBody>
      </p:sp>
      <p:sp>
        <p:nvSpPr>
          <p:cNvPr id="182" name="Google Shape;182;p20"/>
          <p:cNvSpPr txBox="1"/>
          <p:nvPr/>
        </p:nvSpPr>
        <p:spPr>
          <a:xfrm>
            <a:off x="1964100" y="18665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21</a:t>
            </a:r>
            <a:endParaRPr>
              <a:solidFill>
                <a:schemeClr val="dk2"/>
              </a:solidFill>
            </a:endParaRPr>
          </a:p>
        </p:txBody>
      </p:sp>
      <p:sp>
        <p:nvSpPr>
          <p:cNvPr id="183" name="Google Shape;183;p20"/>
          <p:cNvSpPr/>
          <p:nvPr/>
        </p:nvSpPr>
        <p:spPr>
          <a:xfrm>
            <a:off x="5300500" y="13925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184" name="Google Shape;184;p20"/>
          <p:cNvSpPr/>
          <p:nvPr/>
        </p:nvSpPr>
        <p:spPr>
          <a:xfrm>
            <a:off x="6584925" y="166952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185" name="Google Shape;185;p20"/>
          <p:cNvSpPr/>
          <p:nvPr/>
        </p:nvSpPr>
        <p:spPr>
          <a:xfrm>
            <a:off x="7270750" y="233405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86" name="Google Shape;186;p20"/>
          <p:cNvSpPr/>
          <p:nvPr/>
        </p:nvSpPr>
        <p:spPr>
          <a:xfrm>
            <a:off x="6798450" y="34728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87" name="Google Shape;187;p20"/>
          <p:cNvSpPr/>
          <p:nvPr/>
        </p:nvSpPr>
        <p:spPr>
          <a:xfrm>
            <a:off x="5489975" y="35829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88" name="Google Shape;188;p20"/>
          <p:cNvSpPr/>
          <p:nvPr/>
        </p:nvSpPr>
        <p:spPr>
          <a:xfrm>
            <a:off x="4735800" y="25188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189" name="Google Shape;189;p20"/>
          <p:cNvSpPr/>
          <p:nvPr/>
        </p:nvSpPr>
        <p:spPr>
          <a:xfrm>
            <a:off x="5871750" y="24564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190" name="Google Shape;190;p20"/>
          <p:cNvCxnSpPr>
            <a:stCxn id="184" idx="6"/>
            <a:endCxn id="185" idx="1"/>
          </p:cNvCxnSpPr>
          <p:nvPr/>
        </p:nvCxnSpPr>
        <p:spPr>
          <a:xfrm>
            <a:off x="7106325" y="1913725"/>
            <a:ext cx="240900" cy="491700"/>
          </a:xfrm>
          <a:prstGeom prst="straightConnector1">
            <a:avLst/>
          </a:prstGeom>
          <a:noFill/>
          <a:ln cap="flat" cmpd="sng" w="9525">
            <a:solidFill>
              <a:srgbClr val="FF0000"/>
            </a:solidFill>
            <a:prstDash val="solid"/>
            <a:round/>
            <a:headEnd len="med" w="med" type="none"/>
            <a:tailEnd len="med" w="med" type="none"/>
          </a:ln>
        </p:spPr>
      </p:cxnSp>
      <p:cxnSp>
        <p:nvCxnSpPr>
          <p:cNvPr id="191" name="Google Shape;191;p20"/>
          <p:cNvCxnSpPr>
            <a:stCxn id="185" idx="4"/>
            <a:endCxn id="186" idx="7"/>
          </p:cNvCxnSpPr>
          <p:nvPr/>
        </p:nvCxnSpPr>
        <p:spPr>
          <a:xfrm flipH="1">
            <a:off x="7243450" y="2822450"/>
            <a:ext cx="288000" cy="721800"/>
          </a:xfrm>
          <a:prstGeom prst="straightConnector1">
            <a:avLst/>
          </a:prstGeom>
          <a:noFill/>
          <a:ln cap="flat" cmpd="sng" w="9525">
            <a:solidFill>
              <a:srgbClr val="FF0000"/>
            </a:solidFill>
            <a:prstDash val="solid"/>
            <a:round/>
            <a:headEnd len="med" w="med" type="none"/>
            <a:tailEnd len="med" w="med" type="none"/>
          </a:ln>
        </p:spPr>
      </p:cxnSp>
      <p:cxnSp>
        <p:nvCxnSpPr>
          <p:cNvPr id="192" name="Google Shape;192;p20"/>
          <p:cNvCxnSpPr>
            <a:stCxn id="186" idx="2"/>
            <a:endCxn id="187" idx="6"/>
          </p:cNvCxnSpPr>
          <p:nvPr/>
        </p:nvCxnSpPr>
        <p:spPr>
          <a:xfrm flipH="1">
            <a:off x="6011250" y="3717075"/>
            <a:ext cx="787200" cy="110100"/>
          </a:xfrm>
          <a:prstGeom prst="straightConnector1">
            <a:avLst/>
          </a:prstGeom>
          <a:noFill/>
          <a:ln cap="flat" cmpd="sng" w="9525">
            <a:solidFill>
              <a:srgbClr val="FF0000"/>
            </a:solidFill>
            <a:prstDash val="solid"/>
            <a:round/>
            <a:headEnd len="med" w="med" type="none"/>
            <a:tailEnd len="med" w="med" type="none"/>
          </a:ln>
        </p:spPr>
      </p:cxnSp>
      <p:cxnSp>
        <p:nvCxnSpPr>
          <p:cNvPr id="193" name="Google Shape;193;p20"/>
          <p:cNvCxnSpPr>
            <a:stCxn id="187" idx="1"/>
            <a:endCxn id="188" idx="4"/>
          </p:cNvCxnSpPr>
          <p:nvPr/>
        </p:nvCxnSpPr>
        <p:spPr>
          <a:xfrm rot="10800000">
            <a:off x="4996632" y="3007100"/>
            <a:ext cx="569700" cy="647400"/>
          </a:xfrm>
          <a:prstGeom prst="straightConnector1">
            <a:avLst/>
          </a:prstGeom>
          <a:noFill/>
          <a:ln cap="flat" cmpd="sng" w="9525">
            <a:solidFill>
              <a:srgbClr val="FF0000"/>
            </a:solidFill>
            <a:prstDash val="solid"/>
            <a:round/>
            <a:headEnd len="med" w="med" type="none"/>
            <a:tailEnd len="med" w="med" type="none"/>
          </a:ln>
        </p:spPr>
      </p:cxnSp>
      <p:cxnSp>
        <p:nvCxnSpPr>
          <p:cNvPr id="194" name="Google Shape;194;p20"/>
          <p:cNvCxnSpPr>
            <a:stCxn id="188" idx="0"/>
            <a:endCxn id="183" idx="3"/>
          </p:cNvCxnSpPr>
          <p:nvPr/>
        </p:nvCxnSpPr>
        <p:spPr>
          <a:xfrm flipH="1" rot="10800000">
            <a:off x="4996500" y="1809300"/>
            <a:ext cx="380400" cy="709500"/>
          </a:xfrm>
          <a:prstGeom prst="straightConnector1">
            <a:avLst/>
          </a:prstGeom>
          <a:noFill/>
          <a:ln cap="flat" cmpd="sng" w="9525">
            <a:solidFill>
              <a:srgbClr val="FF0000"/>
            </a:solidFill>
            <a:prstDash val="solid"/>
            <a:round/>
            <a:headEnd len="med" w="med" type="none"/>
            <a:tailEnd len="med" w="med" type="none"/>
          </a:ln>
        </p:spPr>
      </p:cxnSp>
      <p:cxnSp>
        <p:nvCxnSpPr>
          <p:cNvPr id="195" name="Google Shape;195;p20"/>
          <p:cNvCxnSpPr>
            <a:stCxn id="189" idx="7"/>
            <a:endCxn id="184" idx="3"/>
          </p:cNvCxnSpPr>
          <p:nvPr/>
        </p:nvCxnSpPr>
        <p:spPr>
          <a:xfrm flipH="1" rot="10800000">
            <a:off x="6316793" y="2086400"/>
            <a:ext cx="344400" cy="441600"/>
          </a:xfrm>
          <a:prstGeom prst="straightConnector1">
            <a:avLst/>
          </a:prstGeom>
          <a:noFill/>
          <a:ln cap="flat" cmpd="sng" w="9525">
            <a:solidFill>
              <a:srgbClr val="FF0000"/>
            </a:solidFill>
            <a:prstDash val="solid"/>
            <a:round/>
            <a:headEnd len="med" w="med" type="none"/>
            <a:tailEnd len="med" w="med" type="none"/>
          </a:ln>
        </p:spPr>
      </p:cxnSp>
      <p:sp>
        <p:nvSpPr>
          <p:cNvPr id="196" name="Google Shape;196;p20"/>
          <p:cNvSpPr txBox="1"/>
          <p:nvPr/>
        </p:nvSpPr>
        <p:spPr>
          <a:xfrm>
            <a:off x="4813475" y="1880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15</a:t>
            </a:r>
            <a:endParaRPr/>
          </a:p>
        </p:txBody>
      </p:sp>
      <p:sp>
        <p:nvSpPr>
          <p:cNvPr id="197" name="Google Shape;197;p20"/>
          <p:cNvSpPr txBox="1"/>
          <p:nvPr/>
        </p:nvSpPr>
        <p:spPr>
          <a:xfrm>
            <a:off x="6132425" y="1354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
          <p:cNvSpPr txBox="1"/>
          <p:nvPr/>
        </p:nvSpPr>
        <p:spPr>
          <a:xfrm>
            <a:off x="4813475" y="32661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38</a:t>
            </a:r>
            <a:endParaRPr/>
          </a:p>
        </p:txBody>
      </p:sp>
      <p:sp>
        <p:nvSpPr>
          <p:cNvPr id="199" name="Google Shape;199;p20"/>
          <p:cNvSpPr txBox="1"/>
          <p:nvPr/>
        </p:nvSpPr>
        <p:spPr>
          <a:xfrm>
            <a:off x="6132425" y="38897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33</a:t>
            </a:r>
            <a:endParaRPr/>
          </a:p>
        </p:txBody>
      </p:sp>
      <p:sp>
        <p:nvSpPr>
          <p:cNvPr id="200" name="Google Shape;200;p20"/>
          <p:cNvSpPr txBox="1"/>
          <p:nvPr/>
        </p:nvSpPr>
        <p:spPr>
          <a:xfrm>
            <a:off x="5640300" y="30528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
          <p:cNvSpPr txBox="1"/>
          <p:nvPr/>
        </p:nvSpPr>
        <p:spPr>
          <a:xfrm>
            <a:off x="6594250" y="3019188"/>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txBox="1"/>
          <p:nvPr/>
        </p:nvSpPr>
        <p:spPr>
          <a:xfrm>
            <a:off x="7496650" y="30528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18</a:t>
            </a:r>
            <a:endParaRPr/>
          </a:p>
        </p:txBody>
      </p:sp>
      <p:sp>
        <p:nvSpPr>
          <p:cNvPr id="203" name="Google Shape;203;p20"/>
          <p:cNvSpPr txBox="1"/>
          <p:nvPr/>
        </p:nvSpPr>
        <p:spPr>
          <a:xfrm>
            <a:off x="7243450" y="19795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24</a:t>
            </a:r>
            <a:endParaRPr/>
          </a:p>
        </p:txBody>
      </p:sp>
      <p:sp>
        <p:nvSpPr>
          <p:cNvPr id="204" name="Google Shape;204;p20"/>
          <p:cNvSpPr txBox="1"/>
          <p:nvPr/>
        </p:nvSpPr>
        <p:spPr>
          <a:xfrm>
            <a:off x="6174825" y="19954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21</a:t>
            </a:r>
            <a:endParaRPr/>
          </a:p>
        </p:txBody>
      </p:sp>
      <p:sp>
        <p:nvSpPr>
          <p:cNvPr id="205" name="Google Shape;205;p20"/>
          <p:cNvSpPr txBox="1"/>
          <p:nvPr/>
        </p:nvSpPr>
        <p:spPr>
          <a:xfrm>
            <a:off x="4813475" y="4318350"/>
            <a:ext cx="4809000" cy="4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Total Cost = 15 + 38 + 33 + 18 + 24 + 21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                 = 149</a:t>
            </a:r>
            <a:endParaRPr sz="12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0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latin typeface="Times New Roman"/>
                <a:ea typeface="Times New Roman"/>
                <a:cs typeface="Times New Roman"/>
                <a:sym typeface="Times New Roman"/>
              </a:rPr>
              <a:t>Prim’s Algorithm: Example</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11" name="Google Shape;21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12" name="Google Shape;2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p>
          <a:p>
            <a:pPr indent="0" lvl="0" marL="0" rtl="0" algn="l">
              <a:spcBef>
                <a:spcPts val="0"/>
              </a:spcBef>
              <a:spcAft>
                <a:spcPts val="1200"/>
              </a:spcAft>
              <a:buNone/>
            </a:pPr>
            <a:r>
              <a:t/>
            </a:r>
            <a:endParaRPr/>
          </a:p>
        </p:txBody>
      </p:sp>
      <p:sp>
        <p:nvSpPr>
          <p:cNvPr id="213" name="Google Shape;213;p21"/>
          <p:cNvSpPr txBox="1"/>
          <p:nvPr>
            <p:ph idx="1" type="body"/>
          </p:nvPr>
        </p:nvSpPr>
        <p:spPr>
          <a:xfrm>
            <a:off x="4341250" y="11242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400"/>
          </a:p>
          <a:p>
            <a:pPr indent="0" lvl="0" marL="0" rtl="0" algn="l">
              <a:spcBef>
                <a:spcPts val="0"/>
              </a:spcBef>
              <a:spcAft>
                <a:spcPts val="1200"/>
              </a:spcAft>
              <a:buNone/>
            </a:pPr>
            <a:r>
              <a:t/>
            </a:r>
            <a:endParaRPr/>
          </a:p>
        </p:txBody>
      </p:sp>
      <p:sp>
        <p:nvSpPr>
          <p:cNvPr id="214" name="Google Shape;214;p21"/>
          <p:cNvSpPr/>
          <p:nvPr/>
        </p:nvSpPr>
        <p:spPr>
          <a:xfrm>
            <a:off x="1089775" y="12635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15" name="Google Shape;215;p21"/>
          <p:cNvSpPr/>
          <p:nvPr/>
        </p:nvSpPr>
        <p:spPr>
          <a:xfrm>
            <a:off x="2374200" y="154060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16" name="Google Shape;216;p21"/>
          <p:cNvSpPr/>
          <p:nvPr/>
        </p:nvSpPr>
        <p:spPr>
          <a:xfrm>
            <a:off x="3060025" y="220512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17" name="Google Shape;217;p21"/>
          <p:cNvSpPr/>
          <p:nvPr/>
        </p:nvSpPr>
        <p:spPr>
          <a:xfrm>
            <a:off x="2587725" y="33439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18" name="Google Shape;218;p21"/>
          <p:cNvSpPr/>
          <p:nvPr/>
        </p:nvSpPr>
        <p:spPr>
          <a:xfrm>
            <a:off x="1279250" y="34540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19" name="Google Shape;219;p21"/>
          <p:cNvSpPr/>
          <p:nvPr/>
        </p:nvSpPr>
        <p:spPr>
          <a:xfrm>
            <a:off x="525075" y="23898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220" name="Google Shape;220;p21"/>
          <p:cNvSpPr/>
          <p:nvPr/>
        </p:nvSpPr>
        <p:spPr>
          <a:xfrm>
            <a:off x="1661025" y="23275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221" name="Google Shape;221;p21"/>
          <p:cNvCxnSpPr>
            <a:stCxn id="214" idx="6"/>
            <a:endCxn id="215" idx="1"/>
          </p:cNvCxnSpPr>
          <p:nvPr/>
        </p:nvCxnSpPr>
        <p:spPr>
          <a:xfrm>
            <a:off x="1611175" y="1507775"/>
            <a:ext cx="839400" cy="1044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21"/>
          <p:cNvCxnSpPr>
            <a:stCxn id="215" idx="6"/>
            <a:endCxn id="216" idx="1"/>
          </p:cNvCxnSpPr>
          <p:nvPr/>
        </p:nvCxnSpPr>
        <p:spPr>
          <a:xfrm>
            <a:off x="2895600" y="1784800"/>
            <a:ext cx="240900" cy="4917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21"/>
          <p:cNvCxnSpPr>
            <a:stCxn id="216" idx="4"/>
            <a:endCxn id="217" idx="7"/>
          </p:cNvCxnSpPr>
          <p:nvPr/>
        </p:nvCxnSpPr>
        <p:spPr>
          <a:xfrm flipH="1">
            <a:off x="3032725" y="2693525"/>
            <a:ext cx="288000" cy="7218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21"/>
          <p:cNvCxnSpPr>
            <a:stCxn id="217" idx="2"/>
            <a:endCxn id="218" idx="6"/>
          </p:cNvCxnSpPr>
          <p:nvPr/>
        </p:nvCxnSpPr>
        <p:spPr>
          <a:xfrm flipH="1">
            <a:off x="1800525" y="3588150"/>
            <a:ext cx="787200" cy="110100"/>
          </a:xfrm>
          <a:prstGeom prst="straightConnector1">
            <a:avLst/>
          </a:prstGeom>
          <a:noFill/>
          <a:ln cap="flat" cmpd="sng" w="9525">
            <a:solidFill>
              <a:schemeClr val="dk2"/>
            </a:solidFill>
            <a:prstDash val="solid"/>
            <a:round/>
            <a:headEnd len="med" w="med" type="none"/>
            <a:tailEnd len="med" w="med" type="none"/>
          </a:ln>
        </p:spPr>
      </p:cxnSp>
      <p:cxnSp>
        <p:nvCxnSpPr>
          <p:cNvPr id="225" name="Google Shape;225;p21"/>
          <p:cNvCxnSpPr>
            <a:stCxn id="218" idx="1"/>
            <a:endCxn id="219" idx="4"/>
          </p:cNvCxnSpPr>
          <p:nvPr/>
        </p:nvCxnSpPr>
        <p:spPr>
          <a:xfrm rot="10800000">
            <a:off x="785907" y="2878175"/>
            <a:ext cx="569700" cy="647400"/>
          </a:xfrm>
          <a:prstGeom prst="straightConnector1">
            <a:avLst/>
          </a:prstGeom>
          <a:noFill/>
          <a:ln cap="flat" cmpd="sng" w="9525">
            <a:solidFill>
              <a:schemeClr val="dk2"/>
            </a:solidFill>
            <a:prstDash val="solid"/>
            <a:round/>
            <a:headEnd len="med" w="med" type="none"/>
            <a:tailEnd len="med" w="med" type="none"/>
          </a:ln>
        </p:spPr>
      </p:cxnSp>
      <p:cxnSp>
        <p:nvCxnSpPr>
          <p:cNvPr id="226" name="Google Shape;226;p21"/>
          <p:cNvCxnSpPr>
            <a:stCxn id="219" idx="0"/>
            <a:endCxn id="214" idx="3"/>
          </p:cNvCxnSpPr>
          <p:nvPr/>
        </p:nvCxnSpPr>
        <p:spPr>
          <a:xfrm flipH="1" rot="10800000">
            <a:off x="785775" y="1680375"/>
            <a:ext cx="380400" cy="709500"/>
          </a:xfrm>
          <a:prstGeom prst="straightConnector1">
            <a:avLst/>
          </a:prstGeom>
          <a:noFill/>
          <a:ln cap="flat" cmpd="sng" w="9525">
            <a:solidFill>
              <a:schemeClr val="dk2"/>
            </a:solidFill>
            <a:prstDash val="solid"/>
            <a:round/>
            <a:headEnd len="med" w="med" type="none"/>
            <a:tailEnd len="med" w="med" type="none"/>
          </a:ln>
        </p:spPr>
      </p:cxnSp>
      <p:cxnSp>
        <p:nvCxnSpPr>
          <p:cNvPr id="227" name="Google Shape;227;p21"/>
          <p:cNvCxnSpPr>
            <a:stCxn id="218" idx="7"/>
            <a:endCxn id="220" idx="4"/>
          </p:cNvCxnSpPr>
          <p:nvPr/>
        </p:nvCxnSpPr>
        <p:spPr>
          <a:xfrm flipH="1" rot="10800000">
            <a:off x="1724293" y="2816075"/>
            <a:ext cx="197400" cy="709500"/>
          </a:xfrm>
          <a:prstGeom prst="straightConnector1">
            <a:avLst/>
          </a:prstGeom>
          <a:noFill/>
          <a:ln cap="flat" cmpd="sng" w="9525">
            <a:solidFill>
              <a:schemeClr val="dk2"/>
            </a:solidFill>
            <a:prstDash val="solid"/>
            <a:round/>
            <a:headEnd len="med" w="med" type="none"/>
            <a:tailEnd len="med" w="med" type="none"/>
          </a:ln>
        </p:spPr>
      </p:cxnSp>
      <p:cxnSp>
        <p:nvCxnSpPr>
          <p:cNvPr id="228" name="Google Shape;228;p21"/>
          <p:cNvCxnSpPr>
            <a:stCxn id="220" idx="7"/>
            <a:endCxn id="215" idx="3"/>
          </p:cNvCxnSpPr>
          <p:nvPr/>
        </p:nvCxnSpPr>
        <p:spPr>
          <a:xfrm flipH="1" rot="10800000">
            <a:off x="2106068" y="1957475"/>
            <a:ext cx="344400" cy="441600"/>
          </a:xfrm>
          <a:prstGeom prst="straightConnector1">
            <a:avLst/>
          </a:prstGeom>
          <a:noFill/>
          <a:ln cap="flat" cmpd="sng" w="9525">
            <a:solidFill>
              <a:schemeClr val="dk2"/>
            </a:solidFill>
            <a:prstDash val="solid"/>
            <a:round/>
            <a:headEnd len="med" w="med" type="none"/>
            <a:tailEnd len="med" w="med" type="none"/>
          </a:ln>
        </p:spPr>
      </p:cxnSp>
      <p:cxnSp>
        <p:nvCxnSpPr>
          <p:cNvPr id="229" name="Google Shape;229;p21"/>
          <p:cNvCxnSpPr>
            <a:stCxn id="217" idx="1"/>
            <a:endCxn id="220" idx="5"/>
          </p:cNvCxnSpPr>
          <p:nvPr/>
        </p:nvCxnSpPr>
        <p:spPr>
          <a:xfrm rot="10800000">
            <a:off x="2106082" y="2744375"/>
            <a:ext cx="558000" cy="671100"/>
          </a:xfrm>
          <a:prstGeom prst="straightConnector1">
            <a:avLst/>
          </a:prstGeom>
          <a:noFill/>
          <a:ln cap="flat" cmpd="sng" w="9525">
            <a:solidFill>
              <a:schemeClr val="dk2"/>
            </a:solidFill>
            <a:prstDash val="solid"/>
            <a:round/>
            <a:headEnd len="med" w="med" type="none"/>
            <a:tailEnd len="med" w="med" type="none"/>
          </a:ln>
        </p:spPr>
      </p:cxnSp>
      <p:sp>
        <p:nvSpPr>
          <p:cNvPr id="230" name="Google Shape;230;p21"/>
          <p:cNvSpPr txBox="1"/>
          <p:nvPr/>
        </p:nvSpPr>
        <p:spPr>
          <a:xfrm>
            <a:off x="602750" y="17519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15</a:t>
            </a:r>
            <a:endParaRPr>
              <a:solidFill>
                <a:schemeClr val="dk2"/>
              </a:solidFill>
            </a:endParaRPr>
          </a:p>
        </p:txBody>
      </p:sp>
      <p:sp>
        <p:nvSpPr>
          <p:cNvPr id="231" name="Google Shape;231;p21"/>
          <p:cNvSpPr txBox="1"/>
          <p:nvPr/>
        </p:nvSpPr>
        <p:spPr>
          <a:xfrm>
            <a:off x="1921700" y="1225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42</a:t>
            </a:r>
            <a:endParaRPr>
              <a:solidFill>
                <a:schemeClr val="dk2"/>
              </a:solidFill>
            </a:endParaRPr>
          </a:p>
        </p:txBody>
      </p:sp>
      <p:sp>
        <p:nvSpPr>
          <p:cNvPr id="232" name="Google Shape;232;p21"/>
          <p:cNvSpPr txBox="1"/>
          <p:nvPr/>
        </p:nvSpPr>
        <p:spPr>
          <a:xfrm>
            <a:off x="602750" y="31372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38</a:t>
            </a:r>
            <a:endParaRPr>
              <a:solidFill>
                <a:schemeClr val="dk2"/>
              </a:solidFill>
            </a:endParaRPr>
          </a:p>
        </p:txBody>
      </p:sp>
      <p:sp>
        <p:nvSpPr>
          <p:cNvPr id="233" name="Google Shape;233;p21"/>
          <p:cNvSpPr txBox="1"/>
          <p:nvPr/>
        </p:nvSpPr>
        <p:spPr>
          <a:xfrm>
            <a:off x="1921700" y="3760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33</a:t>
            </a:r>
            <a:endParaRPr>
              <a:solidFill>
                <a:schemeClr val="dk2"/>
              </a:solidFill>
            </a:endParaRPr>
          </a:p>
        </p:txBody>
      </p:sp>
      <p:sp>
        <p:nvSpPr>
          <p:cNvPr id="234" name="Google Shape;234;p21"/>
          <p:cNvSpPr txBox="1"/>
          <p:nvPr/>
        </p:nvSpPr>
        <p:spPr>
          <a:xfrm>
            <a:off x="142957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36</a:t>
            </a:r>
            <a:endParaRPr>
              <a:solidFill>
                <a:schemeClr val="dk2"/>
              </a:solidFill>
            </a:endParaRPr>
          </a:p>
        </p:txBody>
      </p:sp>
      <p:sp>
        <p:nvSpPr>
          <p:cNvPr id="235" name="Google Shape;235;p21"/>
          <p:cNvSpPr txBox="1"/>
          <p:nvPr/>
        </p:nvSpPr>
        <p:spPr>
          <a:xfrm>
            <a:off x="2383525" y="289026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27</a:t>
            </a:r>
            <a:endParaRPr>
              <a:solidFill>
                <a:schemeClr val="dk2"/>
              </a:solidFill>
            </a:endParaRPr>
          </a:p>
        </p:txBody>
      </p:sp>
      <p:sp>
        <p:nvSpPr>
          <p:cNvPr id="236" name="Google Shape;236;p21"/>
          <p:cNvSpPr txBox="1"/>
          <p:nvPr/>
        </p:nvSpPr>
        <p:spPr>
          <a:xfrm>
            <a:off x="328592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18</a:t>
            </a:r>
            <a:endParaRPr>
              <a:solidFill>
                <a:schemeClr val="dk2"/>
              </a:solidFill>
            </a:endParaRPr>
          </a:p>
        </p:txBody>
      </p:sp>
      <p:sp>
        <p:nvSpPr>
          <p:cNvPr id="237" name="Google Shape;237;p21"/>
          <p:cNvSpPr txBox="1"/>
          <p:nvPr/>
        </p:nvSpPr>
        <p:spPr>
          <a:xfrm>
            <a:off x="3032725" y="18506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24</a:t>
            </a:r>
            <a:endParaRPr>
              <a:solidFill>
                <a:schemeClr val="dk2"/>
              </a:solidFill>
            </a:endParaRPr>
          </a:p>
        </p:txBody>
      </p:sp>
      <p:sp>
        <p:nvSpPr>
          <p:cNvPr id="238" name="Google Shape;238;p21"/>
          <p:cNvSpPr txBox="1"/>
          <p:nvPr/>
        </p:nvSpPr>
        <p:spPr>
          <a:xfrm>
            <a:off x="1964100" y="18665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21</a:t>
            </a:r>
            <a:endParaRPr>
              <a:solidFill>
                <a:schemeClr val="dk2"/>
              </a:solidFill>
            </a:endParaRPr>
          </a:p>
        </p:txBody>
      </p:sp>
      <p:sp>
        <p:nvSpPr>
          <p:cNvPr id="239" name="Google Shape;239;p21"/>
          <p:cNvSpPr/>
          <p:nvPr/>
        </p:nvSpPr>
        <p:spPr>
          <a:xfrm>
            <a:off x="5300500" y="13925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40" name="Google Shape;240;p21"/>
          <p:cNvSpPr/>
          <p:nvPr/>
        </p:nvSpPr>
        <p:spPr>
          <a:xfrm>
            <a:off x="6584925" y="166952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41" name="Google Shape;241;p21"/>
          <p:cNvSpPr/>
          <p:nvPr/>
        </p:nvSpPr>
        <p:spPr>
          <a:xfrm>
            <a:off x="7270750" y="233405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42" name="Google Shape;242;p21"/>
          <p:cNvSpPr/>
          <p:nvPr/>
        </p:nvSpPr>
        <p:spPr>
          <a:xfrm>
            <a:off x="6798450" y="34728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43" name="Google Shape;243;p21"/>
          <p:cNvSpPr/>
          <p:nvPr/>
        </p:nvSpPr>
        <p:spPr>
          <a:xfrm>
            <a:off x="5489975" y="35829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44" name="Google Shape;244;p21"/>
          <p:cNvSpPr/>
          <p:nvPr/>
        </p:nvSpPr>
        <p:spPr>
          <a:xfrm>
            <a:off x="4735800" y="25188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245" name="Google Shape;245;p21"/>
          <p:cNvSpPr/>
          <p:nvPr/>
        </p:nvSpPr>
        <p:spPr>
          <a:xfrm>
            <a:off x="5871750" y="24564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246" name="Google Shape;246;p21"/>
          <p:cNvCxnSpPr>
            <a:stCxn id="240" idx="6"/>
            <a:endCxn id="241" idx="1"/>
          </p:cNvCxnSpPr>
          <p:nvPr/>
        </p:nvCxnSpPr>
        <p:spPr>
          <a:xfrm>
            <a:off x="7106325" y="1913725"/>
            <a:ext cx="240900" cy="491700"/>
          </a:xfrm>
          <a:prstGeom prst="straightConnector1">
            <a:avLst/>
          </a:prstGeom>
          <a:noFill/>
          <a:ln cap="flat" cmpd="sng" w="9525">
            <a:solidFill>
              <a:srgbClr val="FF0000"/>
            </a:solidFill>
            <a:prstDash val="solid"/>
            <a:round/>
            <a:headEnd len="med" w="med" type="none"/>
            <a:tailEnd len="med" w="med" type="none"/>
          </a:ln>
        </p:spPr>
      </p:cxnSp>
      <p:cxnSp>
        <p:nvCxnSpPr>
          <p:cNvPr id="247" name="Google Shape;247;p21"/>
          <p:cNvCxnSpPr>
            <a:stCxn id="241" idx="4"/>
            <a:endCxn id="242" idx="7"/>
          </p:cNvCxnSpPr>
          <p:nvPr/>
        </p:nvCxnSpPr>
        <p:spPr>
          <a:xfrm flipH="1">
            <a:off x="7243450" y="2822450"/>
            <a:ext cx="288000" cy="721800"/>
          </a:xfrm>
          <a:prstGeom prst="straightConnector1">
            <a:avLst/>
          </a:prstGeom>
          <a:noFill/>
          <a:ln cap="flat" cmpd="sng" w="9525">
            <a:solidFill>
              <a:srgbClr val="FF0000"/>
            </a:solidFill>
            <a:prstDash val="solid"/>
            <a:round/>
            <a:headEnd len="med" w="med" type="none"/>
            <a:tailEnd len="med" w="med" type="none"/>
          </a:ln>
        </p:spPr>
      </p:cxnSp>
      <p:cxnSp>
        <p:nvCxnSpPr>
          <p:cNvPr id="248" name="Google Shape;248;p21"/>
          <p:cNvCxnSpPr>
            <a:stCxn id="242" idx="2"/>
            <a:endCxn id="243" idx="6"/>
          </p:cNvCxnSpPr>
          <p:nvPr/>
        </p:nvCxnSpPr>
        <p:spPr>
          <a:xfrm flipH="1">
            <a:off x="6011250" y="3717075"/>
            <a:ext cx="787200" cy="110100"/>
          </a:xfrm>
          <a:prstGeom prst="straightConnector1">
            <a:avLst/>
          </a:prstGeom>
          <a:noFill/>
          <a:ln cap="flat" cmpd="sng" w="9525">
            <a:solidFill>
              <a:srgbClr val="FF0000"/>
            </a:solidFill>
            <a:prstDash val="solid"/>
            <a:round/>
            <a:headEnd len="med" w="med" type="none"/>
            <a:tailEnd len="med" w="med" type="none"/>
          </a:ln>
        </p:spPr>
      </p:cxnSp>
      <p:cxnSp>
        <p:nvCxnSpPr>
          <p:cNvPr id="249" name="Google Shape;249;p21"/>
          <p:cNvCxnSpPr>
            <a:stCxn id="243" idx="1"/>
            <a:endCxn id="244" idx="4"/>
          </p:cNvCxnSpPr>
          <p:nvPr/>
        </p:nvCxnSpPr>
        <p:spPr>
          <a:xfrm rot="10800000">
            <a:off x="4996632" y="3007100"/>
            <a:ext cx="569700" cy="647400"/>
          </a:xfrm>
          <a:prstGeom prst="straightConnector1">
            <a:avLst/>
          </a:prstGeom>
          <a:noFill/>
          <a:ln cap="flat" cmpd="sng" w="9525">
            <a:solidFill>
              <a:srgbClr val="FF0000"/>
            </a:solidFill>
            <a:prstDash val="solid"/>
            <a:round/>
            <a:headEnd len="med" w="med" type="none"/>
            <a:tailEnd len="med" w="med" type="none"/>
          </a:ln>
        </p:spPr>
      </p:cxnSp>
      <p:cxnSp>
        <p:nvCxnSpPr>
          <p:cNvPr id="250" name="Google Shape;250;p21"/>
          <p:cNvCxnSpPr>
            <a:stCxn id="244" idx="0"/>
            <a:endCxn id="239" idx="3"/>
          </p:cNvCxnSpPr>
          <p:nvPr/>
        </p:nvCxnSpPr>
        <p:spPr>
          <a:xfrm flipH="1" rot="10800000">
            <a:off x="4996500" y="1809300"/>
            <a:ext cx="380400" cy="709500"/>
          </a:xfrm>
          <a:prstGeom prst="straightConnector1">
            <a:avLst/>
          </a:prstGeom>
          <a:noFill/>
          <a:ln cap="flat" cmpd="sng" w="9525">
            <a:solidFill>
              <a:srgbClr val="FF0000"/>
            </a:solidFill>
            <a:prstDash val="solid"/>
            <a:round/>
            <a:headEnd len="med" w="med" type="none"/>
            <a:tailEnd len="med" w="med" type="none"/>
          </a:ln>
        </p:spPr>
      </p:cxnSp>
      <p:cxnSp>
        <p:nvCxnSpPr>
          <p:cNvPr id="251" name="Google Shape;251;p21"/>
          <p:cNvCxnSpPr>
            <a:stCxn id="245" idx="7"/>
            <a:endCxn id="240" idx="3"/>
          </p:cNvCxnSpPr>
          <p:nvPr/>
        </p:nvCxnSpPr>
        <p:spPr>
          <a:xfrm flipH="1" rot="10800000">
            <a:off x="6316793" y="2086400"/>
            <a:ext cx="344400" cy="441600"/>
          </a:xfrm>
          <a:prstGeom prst="straightConnector1">
            <a:avLst/>
          </a:prstGeom>
          <a:noFill/>
          <a:ln cap="flat" cmpd="sng" w="9525">
            <a:solidFill>
              <a:srgbClr val="FF0000"/>
            </a:solidFill>
            <a:prstDash val="solid"/>
            <a:round/>
            <a:headEnd len="med" w="med" type="none"/>
            <a:tailEnd len="med" w="med" type="none"/>
          </a:ln>
        </p:spPr>
      </p:cxnSp>
      <p:sp>
        <p:nvSpPr>
          <p:cNvPr id="252" name="Google Shape;252;p21"/>
          <p:cNvSpPr txBox="1"/>
          <p:nvPr/>
        </p:nvSpPr>
        <p:spPr>
          <a:xfrm>
            <a:off x="4813475" y="1880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15</a:t>
            </a:r>
            <a:endParaRPr/>
          </a:p>
        </p:txBody>
      </p:sp>
      <p:sp>
        <p:nvSpPr>
          <p:cNvPr id="253" name="Google Shape;253;p21"/>
          <p:cNvSpPr txBox="1"/>
          <p:nvPr/>
        </p:nvSpPr>
        <p:spPr>
          <a:xfrm>
            <a:off x="6132425" y="1354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txBox="1"/>
          <p:nvPr/>
        </p:nvSpPr>
        <p:spPr>
          <a:xfrm>
            <a:off x="4813475" y="32661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38</a:t>
            </a:r>
            <a:endParaRPr/>
          </a:p>
        </p:txBody>
      </p:sp>
      <p:sp>
        <p:nvSpPr>
          <p:cNvPr id="255" name="Google Shape;255;p21"/>
          <p:cNvSpPr txBox="1"/>
          <p:nvPr/>
        </p:nvSpPr>
        <p:spPr>
          <a:xfrm>
            <a:off x="6132425" y="38897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33</a:t>
            </a:r>
            <a:endParaRPr/>
          </a:p>
        </p:txBody>
      </p:sp>
      <p:sp>
        <p:nvSpPr>
          <p:cNvPr id="256" name="Google Shape;256;p21"/>
          <p:cNvSpPr txBox="1"/>
          <p:nvPr/>
        </p:nvSpPr>
        <p:spPr>
          <a:xfrm>
            <a:off x="5640300" y="30528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txBox="1"/>
          <p:nvPr/>
        </p:nvSpPr>
        <p:spPr>
          <a:xfrm>
            <a:off x="6594250" y="3019188"/>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txBox="1"/>
          <p:nvPr/>
        </p:nvSpPr>
        <p:spPr>
          <a:xfrm>
            <a:off x="7496650" y="30528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18</a:t>
            </a:r>
            <a:endParaRPr/>
          </a:p>
        </p:txBody>
      </p:sp>
      <p:sp>
        <p:nvSpPr>
          <p:cNvPr id="259" name="Google Shape;259;p21"/>
          <p:cNvSpPr txBox="1"/>
          <p:nvPr/>
        </p:nvSpPr>
        <p:spPr>
          <a:xfrm>
            <a:off x="7243450" y="19795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24</a:t>
            </a:r>
            <a:endParaRPr/>
          </a:p>
        </p:txBody>
      </p:sp>
      <p:sp>
        <p:nvSpPr>
          <p:cNvPr id="260" name="Google Shape;260;p21"/>
          <p:cNvSpPr txBox="1"/>
          <p:nvPr/>
        </p:nvSpPr>
        <p:spPr>
          <a:xfrm>
            <a:off x="6174825" y="19954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21</a:t>
            </a:r>
            <a:endParaRPr/>
          </a:p>
        </p:txBody>
      </p:sp>
      <p:sp>
        <p:nvSpPr>
          <p:cNvPr id="261" name="Google Shape;261;p21"/>
          <p:cNvSpPr txBox="1"/>
          <p:nvPr/>
        </p:nvSpPr>
        <p:spPr>
          <a:xfrm>
            <a:off x="4813475" y="4318350"/>
            <a:ext cx="4809000" cy="4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Total Cost = 15 + 38 + 33 + 18 + 24 + 21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                 = 149</a:t>
            </a:r>
            <a:endParaRPr sz="12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Kruskal’s Algorithm</a:t>
            </a:r>
            <a:endParaRPr>
              <a:latin typeface="Times New Roman"/>
              <a:ea typeface="Times New Roman"/>
              <a:cs typeface="Times New Roman"/>
              <a:sym typeface="Times New Roman"/>
            </a:endParaRPr>
          </a:p>
        </p:txBody>
      </p:sp>
      <p:sp>
        <p:nvSpPr>
          <p:cNvPr id="267" name="Google Shape;267;p22"/>
          <p:cNvSpPr/>
          <p:nvPr/>
        </p:nvSpPr>
        <p:spPr>
          <a:xfrm>
            <a:off x="1089775" y="12635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68" name="Google Shape;268;p22"/>
          <p:cNvSpPr/>
          <p:nvPr/>
        </p:nvSpPr>
        <p:spPr>
          <a:xfrm>
            <a:off x="2374200" y="154060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69" name="Google Shape;269;p22"/>
          <p:cNvSpPr/>
          <p:nvPr/>
        </p:nvSpPr>
        <p:spPr>
          <a:xfrm>
            <a:off x="3060025" y="220512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70" name="Google Shape;270;p22"/>
          <p:cNvSpPr/>
          <p:nvPr/>
        </p:nvSpPr>
        <p:spPr>
          <a:xfrm>
            <a:off x="2587725" y="33439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71" name="Google Shape;271;p22"/>
          <p:cNvSpPr/>
          <p:nvPr/>
        </p:nvSpPr>
        <p:spPr>
          <a:xfrm>
            <a:off x="1279250" y="34540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272" name="Google Shape;272;p22"/>
          <p:cNvSpPr/>
          <p:nvPr/>
        </p:nvSpPr>
        <p:spPr>
          <a:xfrm>
            <a:off x="525075" y="23898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273" name="Google Shape;273;p22"/>
          <p:cNvSpPr/>
          <p:nvPr/>
        </p:nvSpPr>
        <p:spPr>
          <a:xfrm>
            <a:off x="1661025" y="23275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274" name="Google Shape;274;p22"/>
          <p:cNvCxnSpPr>
            <a:stCxn id="267" idx="6"/>
            <a:endCxn id="268" idx="1"/>
          </p:cNvCxnSpPr>
          <p:nvPr/>
        </p:nvCxnSpPr>
        <p:spPr>
          <a:xfrm>
            <a:off x="1611175" y="1507775"/>
            <a:ext cx="839400" cy="104400"/>
          </a:xfrm>
          <a:prstGeom prst="straightConnector1">
            <a:avLst/>
          </a:prstGeom>
          <a:noFill/>
          <a:ln cap="flat" cmpd="sng" w="9525">
            <a:solidFill>
              <a:schemeClr val="dk2"/>
            </a:solidFill>
            <a:prstDash val="solid"/>
            <a:round/>
            <a:headEnd len="med" w="med" type="none"/>
            <a:tailEnd len="med" w="med" type="none"/>
          </a:ln>
        </p:spPr>
      </p:cxnSp>
      <p:cxnSp>
        <p:nvCxnSpPr>
          <p:cNvPr id="275" name="Google Shape;275;p22"/>
          <p:cNvCxnSpPr>
            <a:stCxn id="268" idx="6"/>
            <a:endCxn id="269" idx="1"/>
          </p:cNvCxnSpPr>
          <p:nvPr/>
        </p:nvCxnSpPr>
        <p:spPr>
          <a:xfrm>
            <a:off x="2895600" y="1784800"/>
            <a:ext cx="240900" cy="491700"/>
          </a:xfrm>
          <a:prstGeom prst="straightConnector1">
            <a:avLst/>
          </a:prstGeom>
          <a:noFill/>
          <a:ln cap="flat" cmpd="sng" w="9525">
            <a:solidFill>
              <a:schemeClr val="dk2"/>
            </a:solidFill>
            <a:prstDash val="solid"/>
            <a:round/>
            <a:headEnd len="med" w="med" type="none"/>
            <a:tailEnd len="med" w="med" type="none"/>
          </a:ln>
        </p:spPr>
      </p:cxnSp>
      <p:cxnSp>
        <p:nvCxnSpPr>
          <p:cNvPr id="276" name="Google Shape;276;p22"/>
          <p:cNvCxnSpPr>
            <a:stCxn id="269" idx="4"/>
            <a:endCxn id="270" idx="7"/>
          </p:cNvCxnSpPr>
          <p:nvPr/>
        </p:nvCxnSpPr>
        <p:spPr>
          <a:xfrm flipH="1">
            <a:off x="3032725" y="2693525"/>
            <a:ext cx="288000" cy="721800"/>
          </a:xfrm>
          <a:prstGeom prst="straightConnector1">
            <a:avLst/>
          </a:prstGeom>
          <a:noFill/>
          <a:ln cap="flat" cmpd="sng" w="9525">
            <a:solidFill>
              <a:schemeClr val="dk2"/>
            </a:solidFill>
            <a:prstDash val="solid"/>
            <a:round/>
            <a:headEnd len="med" w="med" type="none"/>
            <a:tailEnd len="med" w="med" type="none"/>
          </a:ln>
        </p:spPr>
      </p:cxnSp>
      <p:cxnSp>
        <p:nvCxnSpPr>
          <p:cNvPr id="277" name="Google Shape;277;p22"/>
          <p:cNvCxnSpPr>
            <a:stCxn id="270" idx="2"/>
            <a:endCxn id="271" idx="6"/>
          </p:cNvCxnSpPr>
          <p:nvPr/>
        </p:nvCxnSpPr>
        <p:spPr>
          <a:xfrm flipH="1">
            <a:off x="1800525" y="3588150"/>
            <a:ext cx="787200" cy="110100"/>
          </a:xfrm>
          <a:prstGeom prst="straightConnector1">
            <a:avLst/>
          </a:prstGeom>
          <a:noFill/>
          <a:ln cap="flat" cmpd="sng" w="9525">
            <a:solidFill>
              <a:schemeClr val="dk2"/>
            </a:solidFill>
            <a:prstDash val="solid"/>
            <a:round/>
            <a:headEnd len="med" w="med" type="none"/>
            <a:tailEnd len="med" w="med" type="none"/>
          </a:ln>
        </p:spPr>
      </p:cxnSp>
      <p:cxnSp>
        <p:nvCxnSpPr>
          <p:cNvPr id="278" name="Google Shape;278;p22"/>
          <p:cNvCxnSpPr>
            <a:stCxn id="271" idx="1"/>
            <a:endCxn id="272" idx="4"/>
          </p:cNvCxnSpPr>
          <p:nvPr/>
        </p:nvCxnSpPr>
        <p:spPr>
          <a:xfrm rot="10800000">
            <a:off x="785907" y="2878175"/>
            <a:ext cx="569700" cy="647400"/>
          </a:xfrm>
          <a:prstGeom prst="straightConnector1">
            <a:avLst/>
          </a:prstGeom>
          <a:noFill/>
          <a:ln cap="flat" cmpd="sng" w="9525">
            <a:solidFill>
              <a:schemeClr val="dk2"/>
            </a:solidFill>
            <a:prstDash val="solid"/>
            <a:round/>
            <a:headEnd len="med" w="med" type="none"/>
            <a:tailEnd len="med" w="med" type="none"/>
          </a:ln>
        </p:spPr>
      </p:cxnSp>
      <p:cxnSp>
        <p:nvCxnSpPr>
          <p:cNvPr id="279" name="Google Shape;279;p22"/>
          <p:cNvCxnSpPr>
            <a:stCxn id="272" idx="0"/>
            <a:endCxn id="267" idx="3"/>
          </p:cNvCxnSpPr>
          <p:nvPr/>
        </p:nvCxnSpPr>
        <p:spPr>
          <a:xfrm flipH="1" rot="10800000">
            <a:off x="785775" y="1680375"/>
            <a:ext cx="380400" cy="709500"/>
          </a:xfrm>
          <a:prstGeom prst="straightConnector1">
            <a:avLst/>
          </a:prstGeom>
          <a:noFill/>
          <a:ln cap="flat" cmpd="sng" w="9525">
            <a:solidFill>
              <a:schemeClr val="dk2"/>
            </a:solidFill>
            <a:prstDash val="solid"/>
            <a:round/>
            <a:headEnd len="med" w="med" type="none"/>
            <a:tailEnd len="med" w="med" type="none"/>
          </a:ln>
        </p:spPr>
      </p:cxnSp>
      <p:cxnSp>
        <p:nvCxnSpPr>
          <p:cNvPr id="280" name="Google Shape;280;p22"/>
          <p:cNvCxnSpPr>
            <a:stCxn id="271" idx="7"/>
            <a:endCxn id="273" idx="4"/>
          </p:cNvCxnSpPr>
          <p:nvPr/>
        </p:nvCxnSpPr>
        <p:spPr>
          <a:xfrm flipH="1" rot="10800000">
            <a:off x="1724293" y="2816075"/>
            <a:ext cx="197400" cy="7095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22"/>
          <p:cNvCxnSpPr>
            <a:stCxn id="273" idx="7"/>
            <a:endCxn id="268" idx="3"/>
          </p:cNvCxnSpPr>
          <p:nvPr/>
        </p:nvCxnSpPr>
        <p:spPr>
          <a:xfrm flipH="1" rot="10800000">
            <a:off x="2106068" y="1957475"/>
            <a:ext cx="344400" cy="4416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22"/>
          <p:cNvCxnSpPr>
            <a:stCxn id="270" idx="1"/>
            <a:endCxn id="273" idx="5"/>
          </p:cNvCxnSpPr>
          <p:nvPr/>
        </p:nvCxnSpPr>
        <p:spPr>
          <a:xfrm rot="10800000">
            <a:off x="2106082" y="2744375"/>
            <a:ext cx="558000" cy="671100"/>
          </a:xfrm>
          <a:prstGeom prst="straightConnector1">
            <a:avLst/>
          </a:prstGeom>
          <a:noFill/>
          <a:ln cap="flat" cmpd="sng" w="9525">
            <a:solidFill>
              <a:schemeClr val="dk2"/>
            </a:solidFill>
            <a:prstDash val="solid"/>
            <a:round/>
            <a:headEnd len="med" w="med" type="none"/>
            <a:tailEnd len="med" w="med" type="none"/>
          </a:ln>
        </p:spPr>
      </p:cxnSp>
      <p:sp>
        <p:nvSpPr>
          <p:cNvPr id="283" name="Google Shape;283;p22"/>
          <p:cNvSpPr txBox="1"/>
          <p:nvPr/>
        </p:nvSpPr>
        <p:spPr>
          <a:xfrm>
            <a:off x="602750" y="17519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15</a:t>
            </a:r>
            <a:endParaRPr>
              <a:solidFill>
                <a:schemeClr val="dk2"/>
              </a:solidFill>
            </a:endParaRPr>
          </a:p>
        </p:txBody>
      </p:sp>
      <p:sp>
        <p:nvSpPr>
          <p:cNvPr id="284" name="Google Shape;284;p22"/>
          <p:cNvSpPr txBox="1"/>
          <p:nvPr/>
        </p:nvSpPr>
        <p:spPr>
          <a:xfrm>
            <a:off x="1921700" y="1225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42</a:t>
            </a:r>
            <a:endParaRPr>
              <a:solidFill>
                <a:schemeClr val="dk2"/>
              </a:solidFill>
            </a:endParaRPr>
          </a:p>
        </p:txBody>
      </p:sp>
      <p:sp>
        <p:nvSpPr>
          <p:cNvPr id="285" name="Google Shape;285;p22"/>
          <p:cNvSpPr txBox="1"/>
          <p:nvPr/>
        </p:nvSpPr>
        <p:spPr>
          <a:xfrm>
            <a:off x="602750" y="31372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38</a:t>
            </a:r>
            <a:endParaRPr>
              <a:solidFill>
                <a:schemeClr val="dk2"/>
              </a:solidFill>
            </a:endParaRPr>
          </a:p>
        </p:txBody>
      </p:sp>
      <p:sp>
        <p:nvSpPr>
          <p:cNvPr id="286" name="Google Shape;286;p22"/>
          <p:cNvSpPr txBox="1"/>
          <p:nvPr/>
        </p:nvSpPr>
        <p:spPr>
          <a:xfrm>
            <a:off x="1921700" y="3760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33</a:t>
            </a:r>
            <a:endParaRPr>
              <a:solidFill>
                <a:schemeClr val="dk2"/>
              </a:solidFill>
            </a:endParaRPr>
          </a:p>
        </p:txBody>
      </p:sp>
      <p:sp>
        <p:nvSpPr>
          <p:cNvPr id="287" name="Google Shape;287;p22"/>
          <p:cNvSpPr txBox="1"/>
          <p:nvPr/>
        </p:nvSpPr>
        <p:spPr>
          <a:xfrm>
            <a:off x="142957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36</a:t>
            </a:r>
            <a:endParaRPr>
              <a:solidFill>
                <a:schemeClr val="dk2"/>
              </a:solidFill>
            </a:endParaRPr>
          </a:p>
        </p:txBody>
      </p:sp>
      <p:sp>
        <p:nvSpPr>
          <p:cNvPr id="288" name="Google Shape;288;p22"/>
          <p:cNvSpPr txBox="1"/>
          <p:nvPr/>
        </p:nvSpPr>
        <p:spPr>
          <a:xfrm>
            <a:off x="2383525" y="289026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27</a:t>
            </a:r>
            <a:endParaRPr>
              <a:solidFill>
                <a:schemeClr val="dk2"/>
              </a:solidFill>
            </a:endParaRPr>
          </a:p>
        </p:txBody>
      </p:sp>
      <p:sp>
        <p:nvSpPr>
          <p:cNvPr id="289" name="Google Shape;289;p22"/>
          <p:cNvSpPr txBox="1"/>
          <p:nvPr/>
        </p:nvSpPr>
        <p:spPr>
          <a:xfrm>
            <a:off x="328592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18</a:t>
            </a:r>
            <a:endParaRPr>
              <a:solidFill>
                <a:schemeClr val="dk2"/>
              </a:solidFill>
            </a:endParaRPr>
          </a:p>
        </p:txBody>
      </p:sp>
      <p:sp>
        <p:nvSpPr>
          <p:cNvPr id="290" name="Google Shape;290;p22"/>
          <p:cNvSpPr txBox="1"/>
          <p:nvPr/>
        </p:nvSpPr>
        <p:spPr>
          <a:xfrm>
            <a:off x="3032725" y="18506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24</a:t>
            </a:r>
            <a:endParaRPr>
              <a:solidFill>
                <a:schemeClr val="dk2"/>
              </a:solidFill>
            </a:endParaRPr>
          </a:p>
        </p:txBody>
      </p:sp>
      <p:sp>
        <p:nvSpPr>
          <p:cNvPr id="291" name="Google Shape;291;p22"/>
          <p:cNvSpPr txBox="1"/>
          <p:nvPr/>
        </p:nvSpPr>
        <p:spPr>
          <a:xfrm>
            <a:off x="1964100" y="18665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21</a:t>
            </a:r>
            <a:endParaRPr>
              <a:solidFill>
                <a:schemeClr val="dk2"/>
              </a:solidFill>
            </a:endParaRPr>
          </a:p>
        </p:txBody>
      </p:sp>
      <p:sp>
        <p:nvSpPr>
          <p:cNvPr id="292" name="Google Shape;292;p22"/>
          <p:cNvSpPr txBox="1"/>
          <p:nvPr/>
        </p:nvSpPr>
        <p:spPr>
          <a:xfrm>
            <a:off x="6009775" y="12435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txBox="1"/>
          <p:nvPr/>
        </p:nvSpPr>
        <p:spPr>
          <a:xfrm>
            <a:off x="4391950" y="1188400"/>
            <a:ext cx="4440300" cy="3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Greedy approach</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Sort all edges by weight.</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Add the smallest edge that does not form a cycle with the already selected edges.</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AutoNum type="arabicPeriod"/>
            </a:pPr>
            <a:r>
              <a:rPr lang="en" sz="1800">
                <a:solidFill>
                  <a:schemeClr val="dk1"/>
                </a:solidFill>
                <a:latin typeface="Times New Roman"/>
                <a:ea typeface="Times New Roman"/>
                <a:cs typeface="Times New Roman"/>
                <a:sym typeface="Times New Roman"/>
              </a:rPr>
              <a:t>Repeat this process until all vertices are included.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Kruskal’s Algorithm: Example</a:t>
            </a:r>
            <a:endParaRPr>
              <a:latin typeface="Times New Roman"/>
              <a:ea typeface="Times New Roman"/>
              <a:cs typeface="Times New Roman"/>
              <a:sym typeface="Times New Roman"/>
            </a:endParaRPr>
          </a:p>
        </p:txBody>
      </p:sp>
      <p:sp>
        <p:nvSpPr>
          <p:cNvPr id="299" name="Google Shape;299;p23"/>
          <p:cNvSpPr txBox="1"/>
          <p:nvPr>
            <p:ph idx="1" type="body"/>
          </p:nvPr>
        </p:nvSpPr>
        <p:spPr>
          <a:xfrm>
            <a:off x="4247375" y="9989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300" name="Google Shape;300;p23"/>
          <p:cNvSpPr/>
          <p:nvPr/>
        </p:nvSpPr>
        <p:spPr>
          <a:xfrm>
            <a:off x="1089775" y="12635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01" name="Google Shape;301;p23"/>
          <p:cNvSpPr/>
          <p:nvPr/>
        </p:nvSpPr>
        <p:spPr>
          <a:xfrm>
            <a:off x="2374200" y="154060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02" name="Google Shape;302;p23"/>
          <p:cNvSpPr/>
          <p:nvPr/>
        </p:nvSpPr>
        <p:spPr>
          <a:xfrm>
            <a:off x="3060025" y="220512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03" name="Google Shape;303;p23"/>
          <p:cNvSpPr/>
          <p:nvPr/>
        </p:nvSpPr>
        <p:spPr>
          <a:xfrm>
            <a:off x="2587725" y="33439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304" name="Google Shape;304;p23"/>
          <p:cNvSpPr/>
          <p:nvPr/>
        </p:nvSpPr>
        <p:spPr>
          <a:xfrm>
            <a:off x="1279250" y="34540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05" name="Google Shape;305;p23"/>
          <p:cNvSpPr/>
          <p:nvPr/>
        </p:nvSpPr>
        <p:spPr>
          <a:xfrm>
            <a:off x="525075" y="2389875"/>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306" name="Google Shape;306;p23"/>
          <p:cNvSpPr/>
          <p:nvPr/>
        </p:nvSpPr>
        <p:spPr>
          <a:xfrm>
            <a:off x="1661025" y="2327550"/>
            <a:ext cx="521400" cy="48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307" name="Google Shape;307;p23"/>
          <p:cNvCxnSpPr>
            <a:stCxn id="300" idx="6"/>
            <a:endCxn id="301" idx="1"/>
          </p:cNvCxnSpPr>
          <p:nvPr/>
        </p:nvCxnSpPr>
        <p:spPr>
          <a:xfrm>
            <a:off x="1611175" y="1507775"/>
            <a:ext cx="839400" cy="104400"/>
          </a:xfrm>
          <a:prstGeom prst="straightConnector1">
            <a:avLst/>
          </a:prstGeom>
          <a:noFill/>
          <a:ln cap="flat" cmpd="sng" w="9525">
            <a:solidFill>
              <a:schemeClr val="dk2"/>
            </a:solidFill>
            <a:prstDash val="solid"/>
            <a:round/>
            <a:headEnd len="med" w="med" type="none"/>
            <a:tailEnd len="med" w="med" type="none"/>
          </a:ln>
        </p:spPr>
      </p:cxnSp>
      <p:cxnSp>
        <p:nvCxnSpPr>
          <p:cNvPr id="308" name="Google Shape;308;p23"/>
          <p:cNvCxnSpPr>
            <a:stCxn id="301" idx="6"/>
            <a:endCxn id="302" idx="1"/>
          </p:cNvCxnSpPr>
          <p:nvPr/>
        </p:nvCxnSpPr>
        <p:spPr>
          <a:xfrm>
            <a:off x="2895600" y="1784800"/>
            <a:ext cx="240900" cy="491700"/>
          </a:xfrm>
          <a:prstGeom prst="straightConnector1">
            <a:avLst/>
          </a:prstGeom>
          <a:noFill/>
          <a:ln cap="flat" cmpd="sng" w="9525">
            <a:solidFill>
              <a:schemeClr val="dk2"/>
            </a:solidFill>
            <a:prstDash val="solid"/>
            <a:round/>
            <a:headEnd len="med" w="med" type="none"/>
            <a:tailEnd len="med" w="med" type="none"/>
          </a:ln>
        </p:spPr>
      </p:cxnSp>
      <p:cxnSp>
        <p:nvCxnSpPr>
          <p:cNvPr id="309" name="Google Shape;309;p23"/>
          <p:cNvCxnSpPr>
            <a:stCxn id="302" idx="4"/>
            <a:endCxn id="303" idx="7"/>
          </p:cNvCxnSpPr>
          <p:nvPr/>
        </p:nvCxnSpPr>
        <p:spPr>
          <a:xfrm flipH="1">
            <a:off x="3032725" y="2693525"/>
            <a:ext cx="288000" cy="721800"/>
          </a:xfrm>
          <a:prstGeom prst="straightConnector1">
            <a:avLst/>
          </a:prstGeom>
          <a:noFill/>
          <a:ln cap="flat" cmpd="sng" w="9525">
            <a:solidFill>
              <a:schemeClr val="dk2"/>
            </a:solidFill>
            <a:prstDash val="solid"/>
            <a:round/>
            <a:headEnd len="med" w="med" type="none"/>
            <a:tailEnd len="med" w="med" type="none"/>
          </a:ln>
        </p:spPr>
      </p:cxnSp>
      <p:cxnSp>
        <p:nvCxnSpPr>
          <p:cNvPr id="310" name="Google Shape;310;p23"/>
          <p:cNvCxnSpPr>
            <a:stCxn id="303" idx="2"/>
            <a:endCxn id="304" idx="6"/>
          </p:cNvCxnSpPr>
          <p:nvPr/>
        </p:nvCxnSpPr>
        <p:spPr>
          <a:xfrm flipH="1">
            <a:off x="1800525" y="3588150"/>
            <a:ext cx="787200" cy="110100"/>
          </a:xfrm>
          <a:prstGeom prst="straightConnector1">
            <a:avLst/>
          </a:prstGeom>
          <a:noFill/>
          <a:ln cap="flat" cmpd="sng" w="9525">
            <a:solidFill>
              <a:schemeClr val="dk2"/>
            </a:solidFill>
            <a:prstDash val="solid"/>
            <a:round/>
            <a:headEnd len="med" w="med" type="none"/>
            <a:tailEnd len="med" w="med" type="none"/>
          </a:ln>
        </p:spPr>
      </p:cxnSp>
      <p:cxnSp>
        <p:nvCxnSpPr>
          <p:cNvPr id="311" name="Google Shape;311;p23"/>
          <p:cNvCxnSpPr>
            <a:stCxn id="304" idx="1"/>
            <a:endCxn id="305" idx="4"/>
          </p:cNvCxnSpPr>
          <p:nvPr/>
        </p:nvCxnSpPr>
        <p:spPr>
          <a:xfrm rot="10800000">
            <a:off x="785907" y="2878175"/>
            <a:ext cx="569700" cy="647400"/>
          </a:xfrm>
          <a:prstGeom prst="straightConnector1">
            <a:avLst/>
          </a:prstGeom>
          <a:noFill/>
          <a:ln cap="flat" cmpd="sng" w="9525">
            <a:solidFill>
              <a:schemeClr val="dk2"/>
            </a:solidFill>
            <a:prstDash val="solid"/>
            <a:round/>
            <a:headEnd len="med" w="med" type="none"/>
            <a:tailEnd len="med" w="med" type="none"/>
          </a:ln>
        </p:spPr>
      </p:cxnSp>
      <p:cxnSp>
        <p:nvCxnSpPr>
          <p:cNvPr id="312" name="Google Shape;312;p23"/>
          <p:cNvCxnSpPr>
            <a:stCxn id="305" idx="0"/>
            <a:endCxn id="300" idx="3"/>
          </p:cNvCxnSpPr>
          <p:nvPr/>
        </p:nvCxnSpPr>
        <p:spPr>
          <a:xfrm flipH="1" rot="10800000">
            <a:off x="785775" y="1680375"/>
            <a:ext cx="380400" cy="709500"/>
          </a:xfrm>
          <a:prstGeom prst="straightConnector1">
            <a:avLst/>
          </a:prstGeom>
          <a:noFill/>
          <a:ln cap="flat" cmpd="sng" w="9525">
            <a:solidFill>
              <a:schemeClr val="dk2"/>
            </a:solidFill>
            <a:prstDash val="solid"/>
            <a:round/>
            <a:headEnd len="med" w="med" type="none"/>
            <a:tailEnd len="med" w="med" type="none"/>
          </a:ln>
        </p:spPr>
      </p:cxnSp>
      <p:cxnSp>
        <p:nvCxnSpPr>
          <p:cNvPr id="313" name="Google Shape;313;p23"/>
          <p:cNvCxnSpPr>
            <a:stCxn id="304" idx="7"/>
            <a:endCxn id="306" idx="4"/>
          </p:cNvCxnSpPr>
          <p:nvPr/>
        </p:nvCxnSpPr>
        <p:spPr>
          <a:xfrm flipH="1" rot="10800000">
            <a:off x="1724293" y="2816075"/>
            <a:ext cx="197400" cy="709500"/>
          </a:xfrm>
          <a:prstGeom prst="straightConnector1">
            <a:avLst/>
          </a:prstGeom>
          <a:noFill/>
          <a:ln cap="flat" cmpd="sng" w="9525">
            <a:solidFill>
              <a:schemeClr val="dk2"/>
            </a:solidFill>
            <a:prstDash val="solid"/>
            <a:round/>
            <a:headEnd len="med" w="med" type="none"/>
            <a:tailEnd len="med" w="med" type="none"/>
          </a:ln>
        </p:spPr>
      </p:cxnSp>
      <p:cxnSp>
        <p:nvCxnSpPr>
          <p:cNvPr id="314" name="Google Shape;314;p23"/>
          <p:cNvCxnSpPr>
            <a:stCxn id="306" idx="7"/>
            <a:endCxn id="301" idx="3"/>
          </p:cNvCxnSpPr>
          <p:nvPr/>
        </p:nvCxnSpPr>
        <p:spPr>
          <a:xfrm flipH="1" rot="10800000">
            <a:off x="2106068" y="1957475"/>
            <a:ext cx="344400" cy="4416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23"/>
          <p:cNvCxnSpPr>
            <a:stCxn id="303" idx="1"/>
            <a:endCxn id="306" idx="5"/>
          </p:cNvCxnSpPr>
          <p:nvPr/>
        </p:nvCxnSpPr>
        <p:spPr>
          <a:xfrm rot="10800000">
            <a:off x="2106082" y="2744375"/>
            <a:ext cx="558000" cy="671100"/>
          </a:xfrm>
          <a:prstGeom prst="straightConnector1">
            <a:avLst/>
          </a:prstGeom>
          <a:noFill/>
          <a:ln cap="flat" cmpd="sng" w="9525">
            <a:solidFill>
              <a:schemeClr val="dk2"/>
            </a:solidFill>
            <a:prstDash val="solid"/>
            <a:round/>
            <a:headEnd len="med" w="med" type="none"/>
            <a:tailEnd len="med" w="med" type="none"/>
          </a:ln>
        </p:spPr>
      </p:cxnSp>
      <p:sp>
        <p:nvSpPr>
          <p:cNvPr id="316" name="Google Shape;316;p23"/>
          <p:cNvSpPr txBox="1"/>
          <p:nvPr/>
        </p:nvSpPr>
        <p:spPr>
          <a:xfrm>
            <a:off x="602750" y="17519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15</a:t>
            </a:r>
            <a:endParaRPr>
              <a:solidFill>
                <a:schemeClr val="dk2"/>
              </a:solidFill>
            </a:endParaRPr>
          </a:p>
        </p:txBody>
      </p:sp>
      <p:sp>
        <p:nvSpPr>
          <p:cNvPr id="317" name="Google Shape;317;p23"/>
          <p:cNvSpPr txBox="1"/>
          <p:nvPr/>
        </p:nvSpPr>
        <p:spPr>
          <a:xfrm>
            <a:off x="1921700" y="1225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42</a:t>
            </a:r>
            <a:endParaRPr>
              <a:solidFill>
                <a:schemeClr val="dk2"/>
              </a:solidFill>
            </a:endParaRPr>
          </a:p>
        </p:txBody>
      </p:sp>
      <p:sp>
        <p:nvSpPr>
          <p:cNvPr id="318" name="Google Shape;318;p23"/>
          <p:cNvSpPr txBox="1"/>
          <p:nvPr/>
        </p:nvSpPr>
        <p:spPr>
          <a:xfrm>
            <a:off x="602750" y="31372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38</a:t>
            </a:r>
            <a:endParaRPr>
              <a:solidFill>
                <a:schemeClr val="dk2"/>
              </a:solidFill>
            </a:endParaRPr>
          </a:p>
        </p:txBody>
      </p:sp>
      <p:sp>
        <p:nvSpPr>
          <p:cNvPr id="319" name="Google Shape;319;p23"/>
          <p:cNvSpPr txBox="1"/>
          <p:nvPr/>
        </p:nvSpPr>
        <p:spPr>
          <a:xfrm>
            <a:off x="1921700" y="37608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33</a:t>
            </a:r>
            <a:endParaRPr>
              <a:solidFill>
                <a:schemeClr val="dk2"/>
              </a:solidFill>
            </a:endParaRPr>
          </a:p>
        </p:txBody>
      </p:sp>
      <p:sp>
        <p:nvSpPr>
          <p:cNvPr id="320" name="Google Shape;320;p23"/>
          <p:cNvSpPr txBox="1"/>
          <p:nvPr/>
        </p:nvSpPr>
        <p:spPr>
          <a:xfrm>
            <a:off x="142957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36</a:t>
            </a:r>
            <a:endParaRPr>
              <a:solidFill>
                <a:schemeClr val="dk2"/>
              </a:solidFill>
            </a:endParaRPr>
          </a:p>
        </p:txBody>
      </p:sp>
      <p:sp>
        <p:nvSpPr>
          <p:cNvPr id="321" name="Google Shape;321;p23"/>
          <p:cNvSpPr txBox="1"/>
          <p:nvPr/>
        </p:nvSpPr>
        <p:spPr>
          <a:xfrm>
            <a:off x="2383525" y="289026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27</a:t>
            </a:r>
            <a:endParaRPr>
              <a:solidFill>
                <a:schemeClr val="dk2"/>
              </a:solidFill>
            </a:endParaRPr>
          </a:p>
        </p:txBody>
      </p:sp>
      <p:sp>
        <p:nvSpPr>
          <p:cNvPr id="322" name="Google Shape;322;p23"/>
          <p:cNvSpPr txBox="1"/>
          <p:nvPr/>
        </p:nvSpPr>
        <p:spPr>
          <a:xfrm>
            <a:off x="3285925" y="29239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18</a:t>
            </a:r>
            <a:endParaRPr>
              <a:solidFill>
                <a:schemeClr val="dk2"/>
              </a:solidFill>
            </a:endParaRPr>
          </a:p>
        </p:txBody>
      </p:sp>
      <p:sp>
        <p:nvSpPr>
          <p:cNvPr id="323" name="Google Shape;323;p23"/>
          <p:cNvSpPr txBox="1"/>
          <p:nvPr/>
        </p:nvSpPr>
        <p:spPr>
          <a:xfrm>
            <a:off x="3032725" y="18506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24</a:t>
            </a:r>
            <a:endParaRPr>
              <a:solidFill>
                <a:schemeClr val="dk2"/>
              </a:solidFill>
            </a:endParaRPr>
          </a:p>
        </p:txBody>
      </p:sp>
      <p:sp>
        <p:nvSpPr>
          <p:cNvPr id="324" name="Google Shape;324;p23"/>
          <p:cNvSpPr txBox="1"/>
          <p:nvPr/>
        </p:nvSpPr>
        <p:spPr>
          <a:xfrm>
            <a:off x="1964100" y="18665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21</a:t>
            </a:r>
            <a:endParaRPr>
              <a:solidFill>
                <a:schemeClr val="dk2"/>
              </a:solidFill>
            </a:endParaRPr>
          </a:p>
        </p:txBody>
      </p:sp>
      <p:sp>
        <p:nvSpPr>
          <p:cNvPr id="325" name="Google Shape;325;p23"/>
          <p:cNvSpPr/>
          <p:nvPr/>
        </p:nvSpPr>
        <p:spPr>
          <a:xfrm>
            <a:off x="5177850" y="128122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26" name="Google Shape;326;p23"/>
          <p:cNvSpPr/>
          <p:nvPr/>
        </p:nvSpPr>
        <p:spPr>
          <a:xfrm>
            <a:off x="6462275" y="155825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27" name="Google Shape;327;p23"/>
          <p:cNvSpPr/>
          <p:nvPr/>
        </p:nvSpPr>
        <p:spPr>
          <a:xfrm>
            <a:off x="7148100" y="222277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28" name="Google Shape;328;p23"/>
          <p:cNvSpPr/>
          <p:nvPr/>
        </p:nvSpPr>
        <p:spPr>
          <a:xfrm>
            <a:off x="6675800" y="33616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329" name="Google Shape;329;p23"/>
          <p:cNvSpPr/>
          <p:nvPr/>
        </p:nvSpPr>
        <p:spPr>
          <a:xfrm>
            <a:off x="5367325" y="34717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30" name="Google Shape;330;p23"/>
          <p:cNvSpPr/>
          <p:nvPr/>
        </p:nvSpPr>
        <p:spPr>
          <a:xfrm>
            <a:off x="4613150" y="2407525"/>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331" name="Google Shape;331;p23"/>
          <p:cNvSpPr/>
          <p:nvPr/>
        </p:nvSpPr>
        <p:spPr>
          <a:xfrm>
            <a:off x="5749100" y="2345200"/>
            <a:ext cx="521400" cy="4884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cxnSp>
        <p:nvCxnSpPr>
          <p:cNvPr id="332" name="Google Shape;332;p23"/>
          <p:cNvCxnSpPr>
            <a:stCxn id="326" idx="6"/>
            <a:endCxn id="327" idx="1"/>
          </p:cNvCxnSpPr>
          <p:nvPr/>
        </p:nvCxnSpPr>
        <p:spPr>
          <a:xfrm>
            <a:off x="6983675" y="1802450"/>
            <a:ext cx="240900" cy="491700"/>
          </a:xfrm>
          <a:prstGeom prst="straightConnector1">
            <a:avLst/>
          </a:prstGeom>
          <a:noFill/>
          <a:ln cap="flat" cmpd="sng" w="9525">
            <a:solidFill>
              <a:srgbClr val="FF0000"/>
            </a:solidFill>
            <a:prstDash val="solid"/>
            <a:round/>
            <a:headEnd len="med" w="med" type="none"/>
            <a:tailEnd len="med" w="med" type="none"/>
          </a:ln>
        </p:spPr>
      </p:cxnSp>
      <p:cxnSp>
        <p:nvCxnSpPr>
          <p:cNvPr id="333" name="Google Shape;333;p23"/>
          <p:cNvCxnSpPr>
            <a:stCxn id="327" idx="4"/>
            <a:endCxn id="328" idx="7"/>
          </p:cNvCxnSpPr>
          <p:nvPr/>
        </p:nvCxnSpPr>
        <p:spPr>
          <a:xfrm flipH="1">
            <a:off x="7120800" y="2711175"/>
            <a:ext cx="288000" cy="721800"/>
          </a:xfrm>
          <a:prstGeom prst="straightConnector1">
            <a:avLst/>
          </a:prstGeom>
          <a:noFill/>
          <a:ln cap="flat" cmpd="sng" w="9525">
            <a:solidFill>
              <a:srgbClr val="FF0000"/>
            </a:solidFill>
            <a:prstDash val="solid"/>
            <a:round/>
            <a:headEnd len="med" w="med" type="none"/>
            <a:tailEnd len="med" w="med" type="none"/>
          </a:ln>
        </p:spPr>
      </p:cxnSp>
      <p:cxnSp>
        <p:nvCxnSpPr>
          <p:cNvPr id="334" name="Google Shape;334;p23"/>
          <p:cNvCxnSpPr>
            <a:stCxn id="328" idx="2"/>
            <a:endCxn id="329" idx="6"/>
          </p:cNvCxnSpPr>
          <p:nvPr/>
        </p:nvCxnSpPr>
        <p:spPr>
          <a:xfrm flipH="1">
            <a:off x="5888600" y="3605800"/>
            <a:ext cx="787200" cy="110100"/>
          </a:xfrm>
          <a:prstGeom prst="straightConnector1">
            <a:avLst/>
          </a:prstGeom>
          <a:noFill/>
          <a:ln cap="flat" cmpd="sng" w="9525">
            <a:solidFill>
              <a:srgbClr val="FF0000"/>
            </a:solidFill>
            <a:prstDash val="solid"/>
            <a:round/>
            <a:headEnd len="med" w="med" type="none"/>
            <a:tailEnd len="med" w="med" type="none"/>
          </a:ln>
        </p:spPr>
      </p:cxnSp>
      <p:cxnSp>
        <p:nvCxnSpPr>
          <p:cNvPr id="335" name="Google Shape;335;p23"/>
          <p:cNvCxnSpPr>
            <a:stCxn id="329" idx="1"/>
            <a:endCxn id="330" idx="4"/>
          </p:cNvCxnSpPr>
          <p:nvPr/>
        </p:nvCxnSpPr>
        <p:spPr>
          <a:xfrm rot="10800000">
            <a:off x="4873982" y="2895825"/>
            <a:ext cx="569700" cy="647400"/>
          </a:xfrm>
          <a:prstGeom prst="straightConnector1">
            <a:avLst/>
          </a:prstGeom>
          <a:noFill/>
          <a:ln cap="flat" cmpd="sng" w="9525">
            <a:solidFill>
              <a:srgbClr val="FF0000"/>
            </a:solidFill>
            <a:prstDash val="solid"/>
            <a:round/>
            <a:headEnd len="med" w="med" type="none"/>
            <a:tailEnd len="med" w="med" type="none"/>
          </a:ln>
        </p:spPr>
      </p:cxnSp>
      <p:cxnSp>
        <p:nvCxnSpPr>
          <p:cNvPr id="336" name="Google Shape;336;p23"/>
          <p:cNvCxnSpPr>
            <a:stCxn id="330" idx="0"/>
            <a:endCxn id="325" idx="3"/>
          </p:cNvCxnSpPr>
          <p:nvPr/>
        </p:nvCxnSpPr>
        <p:spPr>
          <a:xfrm flipH="1" rot="10800000">
            <a:off x="4873850" y="1698025"/>
            <a:ext cx="380400" cy="709500"/>
          </a:xfrm>
          <a:prstGeom prst="straightConnector1">
            <a:avLst/>
          </a:prstGeom>
          <a:noFill/>
          <a:ln cap="flat" cmpd="sng" w="9525">
            <a:solidFill>
              <a:srgbClr val="FF0000"/>
            </a:solidFill>
            <a:prstDash val="solid"/>
            <a:round/>
            <a:headEnd len="med" w="med" type="none"/>
            <a:tailEnd len="med" w="med" type="none"/>
          </a:ln>
        </p:spPr>
      </p:cxnSp>
      <p:cxnSp>
        <p:nvCxnSpPr>
          <p:cNvPr id="337" name="Google Shape;337;p23"/>
          <p:cNvCxnSpPr>
            <a:stCxn id="329" idx="7"/>
            <a:endCxn id="331" idx="4"/>
          </p:cNvCxnSpPr>
          <p:nvPr/>
        </p:nvCxnSpPr>
        <p:spPr>
          <a:xfrm flipH="1" rot="10800000">
            <a:off x="5812368" y="2833725"/>
            <a:ext cx="197400" cy="709500"/>
          </a:xfrm>
          <a:prstGeom prst="straightConnector1">
            <a:avLst/>
          </a:prstGeom>
          <a:noFill/>
          <a:ln cap="flat" cmpd="sng" w="9525">
            <a:solidFill>
              <a:srgbClr val="FF0000"/>
            </a:solidFill>
            <a:prstDash val="solid"/>
            <a:round/>
            <a:headEnd len="med" w="med" type="none"/>
            <a:tailEnd len="med" w="med" type="none"/>
          </a:ln>
        </p:spPr>
      </p:cxnSp>
      <p:cxnSp>
        <p:nvCxnSpPr>
          <p:cNvPr id="338" name="Google Shape;338;p23"/>
          <p:cNvCxnSpPr>
            <a:stCxn id="331" idx="7"/>
            <a:endCxn id="326" idx="3"/>
          </p:cNvCxnSpPr>
          <p:nvPr/>
        </p:nvCxnSpPr>
        <p:spPr>
          <a:xfrm flipH="1" rot="10800000">
            <a:off x="6194143" y="1975125"/>
            <a:ext cx="344400" cy="441600"/>
          </a:xfrm>
          <a:prstGeom prst="straightConnector1">
            <a:avLst/>
          </a:prstGeom>
          <a:noFill/>
          <a:ln cap="flat" cmpd="sng" w="9525">
            <a:solidFill>
              <a:srgbClr val="FF0000"/>
            </a:solidFill>
            <a:prstDash val="solid"/>
            <a:round/>
            <a:headEnd len="med" w="med" type="none"/>
            <a:tailEnd len="med" w="med" type="none"/>
          </a:ln>
        </p:spPr>
      </p:cxnSp>
      <p:cxnSp>
        <p:nvCxnSpPr>
          <p:cNvPr id="339" name="Google Shape;339;p23"/>
          <p:cNvCxnSpPr>
            <a:stCxn id="328" idx="1"/>
            <a:endCxn id="331" idx="5"/>
          </p:cNvCxnSpPr>
          <p:nvPr/>
        </p:nvCxnSpPr>
        <p:spPr>
          <a:xfrm rot="10800000">
            <a:off x="6194157" y="2762025"/>
            <a:ext cx="558000" cy="671100"/>
          </a:xfrm>
          <a:prstGeom prst="straightConnector1">
            <a:avLst/>
          </a:prstGeom>
          <a:noFill/>
          <a:ln cap="flat" cmpd="sng" w="9525">
            <a:solidFill>
              <a:srgbClr val="FF0000"/>
            </a:solidFill>
            <a:prstDash val="solid"/>
            <a:round/>
            <a:headEnd len="med" w="med" type="none"/>
            <a:tailEnd len="med" w="med" type="none"/>
          </a:ln>
        </p:spPr>
      </p:cxnSp>
      <p:sp>
        <p:nvSpPr>
          <p:cNvPr id="340" name="Google Shape;340;p23"/>
          <p:cNvSpPr txBox="1"/>
          <p:nvPr/>
        </p:nvSpPr>
        <p:spPr>
          <a:xfrm>
            <a:off x="4690825" y="176962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15</a:t>
            </a:r>
            <a:endParaRPr/>
          </a:p>
        </p:txBody>
      </p:sp>
      <p:sp>
        <p:nvSpPr>
          <p:cNvPr id="341" name="Google Shape;341;p23"/>
          <p:cNvSpPr txBox="1"/>
          <p:nvPr/>
        </p:nvSpPr>
        <p:spPr>
          <a:xfrm>
            <a:off x="6009775" y="12435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txBox="1"/>
          <p:nvPr/>
        </p:nvSpPr>
        <p:spPr>
          <a:xfrm>
            <a:off x="4690825" y="31549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38</a:t>
            </a:r>
            <a:endParaRPr/>
          </a:p>
        </p:txBody>
      </p:sp>
      <p:sp>
        <p:nvSpPr>
          <p:cNvPr id="343" name="Google Shape;343;p23"/>
          <p:cNvSpPr txBox="1"/>
          <p:nvPr/>
        </p:nvSpPr>
        <p:spPr>
          <a:xfrm>
            <a:off x="6009775" y="3778475"/>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33</a:t>
            </a:r>
            <a:endParaRPr/>
          </a:p>
        </p:txBody>
      </p:sp>
      <p:sp>
        <p:nvSpPr>
          <p:cNvPr id="344" name="Google Shape;344;p23"/>
          <p:cNvSpPr txBox="1"/>
          <p:nvPr/>
        </p:nvSpPr>
        <p:spPr>
          <a:xfrm>
            <a:off x="5517650" y="29416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36</a:t>
            </a:r>
            <a:endParaRPr/>
          </a:p>
        </p:txBody>
      </p:sp>
      <p:sp>
        <p:nvSpPr>
          <p:cNvPr id="345" name="Google Shape;345;p23"/>
          <p:cNvSpPr txBox="1"/>
          <p:nvPr/>
        </p:nvSpPr>
        <p:spPr>
          <a:xfrm>
            <a:off x="6471600" y="2907913"/>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27</a:t>
            </a:r>
            <a:endParaRPr/>
          </a:p>
        </p:txBody>
      </p:sp>
      <p:sp>
        <p:nvSpPr>
          <p:cNvPr id="346" name="Google Shape;346;p23"/>
          <p:cNvSpPr txBox="1"/>
          <p:nvPr/>
        </p:nvSpPr>
        <p:spPr>
          <a:xfrm>
            <a:off x="7374000" y="29416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18</a:t>
            </a:r>
            <a:endParaRPr/>
          </a:p>
        </p:txBody>
      </p:sp>
      <p:sp>
        <p:nvSpPr>
          <p:cNvPr id="347" name="Google Shape;347;p23"/>
          <p:cNvSpPr txBox="1"/>
          <p:nvPr/>
        </p:nvSpPr>
        <p:spPr>
          <a:xfrm>
            <a:off x="7120800" y="186830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24</a:t>
            </a:r>
            <a:endParaRPr/>
          </a:p>
        </p:txBody>
      </p:sp>
      <p:sp>
        <p:nvSpPr>
          <p:cNvPr id="348" name="Google Shape;348;p23"/>
          <p:cNvSpPr txBox="1"/>
          <p:nvPr/>
        </p:nvSpPr>
        <p:spPr>
          <a:xfrm>
            <a:off x="6052175" y="1884150"/>
            <a:ext cx="676500" cy="20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21</a:t>
            </a:r>
            <a:endParaRPr/>
          </a:p>
        </p:txBody>
      </p:sp>
      <p:sp>
        <p:nvSpPr>
          <p:cNvPr id="349" name="Google Shape;349;p23"/>
          <p:cNvSpPr txBox="1"/>
          <p:nvPr/>
        </p:nvSpPr>
        <p:spPr>
          <a:xfrm>
            <a:off x="4811050" y="4220425"/>
            <a:ext cx="4809000" cy="44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Total Cost = 15 + 38 + 33 + 18 + 24 + 21 </a:t>
            </a:r>
            <a:endParaRPr sz="1200">
              <a:latin typeface="Times New Roman"/>
              <a:ea typeface="Times New Roman"/>
              <a:cs typeface="Times New Roman"/>
              <a:sym typeface="Times New Roman"/>
            </a:endParaRPr>
          </a:p>
          <a:p>
            <a:pPr indent="0" lvl="0" marL="0" rtl="0" algn="l">
              <a:spcBef>
                <a:spcPts val="0"/>
              </a:spcBef>
              <a:spcAft>
                <a:spcPts val="0"/>
              </a:spcAft>
              <a:buNone/>
            </a:pPr>
            <a:r>
              <a:rPr lang="en" sz="1200">
                <a:latin typeface="Times New Roman"/>
                <a:ea typeface="Times New Roman"/>
                <a:cs typeface="Times New Roman"/>
                <a:sym typeface="Times New Roman"/>
              </a:rPr>
              <a:t>                 = 149</a:t>
            </a:r>
            <a:endParaRPr sz="12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3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4"/>
          <p:cNvSpPr txBox="1"/>
          <p:nvPr>
            <p:ph idx="1" type="body"/>
          </p:nvPr>
        </p:nvSpPr>
        <p:spPr>
          <a:xfrm>
            <a:off x="311700" y="1152475"/>
            <a:ext cx="399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FF00FF"/>
                </a:solidFill>
                <a:latin typeface="Times New Roman"/>
                <a:ea typeface="Times New Roman"/>
                <a:cs typeface="Times New Roman"/>
                <a:sym typeface="Times New Roman"/>
              </a:rPr>
              <a:t>Prim__________________________</a:t>
            </a:r>
            <a:endParaRPr b="1" u="sng">
              <a:solidFill>
                <a:srgbClr val="FF00FF"/>
              </a:solidFill>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rPr b="1" lang="en" sz="1600">
                <a:latin typeface="Times New Roman"/>
                <a:ea typeface="Times New Roman"/>
                <a:cs typeface="Times New Roman"/>
                <a:sym typeface="Times New Roman"/>
              </a:rPr>
              <a:t>Start</a:t>
            </a:r>
            <a:r>
              <a:rPr lang="en" sz="1600">
                <a:latin typeface="Times New Roman"/>
                <a:ea typeface="Times New Roman"/>
                <a:cs typeface="Times New Roman"/>
                <a:sym typeface="Times New Roman"/>
              </a:rPr>
              <a:t>: anywhere</a:t>
            </a:r>
            <a:endParaRPr sz="1600">
              <a:latin typeface="Times New Roman"/>
              <a:ea typeface="Times New Roman"/>
              <a:cs typeface="Times New Roman"/>
              <a:sym typeface="Times New Roman"/>
            </a:endParaRPr>
          </a:p>
          <a:p>
            <a:pPr indent="0" lvl="0" marL="0" rtl="0" algn="l">
              <a:spcBef>
                <a:spcPts val="1200"/>
              </a:spcBef>
              <a:spcAft>
                <a:spcPts val="1200"/>
              </a:spcAft>
              <a:buNone/>
            </a:pPr>
            <a:r>
              <a:rPr b="1" lang="en" sz="1600">
                <a:latin typeface="Times New Roman"/>
                <a:ea typeface="Times New Roman"/>
                <a:cs typeface="Times New Roman"/>
                <a:sym typeface="Times New Roman"/>
              </a:rPr>
              <a:t>Order</a:t>
            </a:r>
            <a:r>
              <a:rPr lang="en" sz="1600">
                <a:latin typeface="Times New Roman"/>
                <a:ea typeface="Times New Roman"/>
                <a:cs typeface="Times New Roman"/>
                <a:sym typeface="Times New Roman"/>
              </a:rPr>
              <a:t>: </a:t>
            </a:r>
            <a:r>
              <a:rPr lang="en" sz="1600">
                <a:latin typeface="Times New Roman"/>
                <a:ea typeface="Times New Roman"/>
                <a:cs typeface="Times New Roman"/>
                <a:sym typeface="Times New Roman"/>
              </a:rPr>
              <a:t>a</a:t>
            </a:r>
            <a:r>
              <a:rPr lang="en" sz="1600">
                <a:latin typeface="Times New Roman"/>
                <a:ea typeface="Times New Roman"/>
                <a:cs typeface="Times New Roman"/>
                <a:sym typeface="Times New Roman"/>
              </a:rPr>
              <a:t> -&gt; b -&gt; c -&gt; …</a:t>
            </a:r>
            <a:endParaRPr sz="1600">
              <a:latin typeface="Times New Roman"/>
              <a:ea typeface="Times New Roman"/>
              <a:cs typeface="Times New Roman"/>
              <a:sym typeface="Times New Roman"/>
            </a:endParaRPr>
          </a:p>
        </p:txBody>
      </p:sp>
      <p:pic>
        <p:nvPicPr>
          <p:cNvPr id="355" name="Google Shape;355;p24"/>
          <p:cNvPicPr preferRelativeResize="0"/>
          <p:nvPr/>
        </p:nvPicPr>
        <p:blipFill>
          <a:blip r:embed="rId3">
            <a:alphaModFix/>
          </a:blip>
          <a:stretch>
            <a:fillRect/>
          </a:stretch>
        </p:blipFill>
        <p:spPr>
          <a:xfrm>
            <a:off x="319800" y="1607173"/>
            <a:ext cx="3998398" cy="1811699"/>
          </a:xfrm>
          <a:prstGeom prst="rect">
            <a:avLst/>
          </a:prstGeom>
          <a:noFill/>
          <a:ln cap="flat" cmpd="sng" w="28575">
            <a:solidFill>
              <a:srgbClr val="FF00FF"/>
            </a:solidFill>
            <a:prstDash val="solid"/>
            <a:round/>
            <a:headEnd len="sm" w="sm" type="none"/>
            <a:tailEnd len="sm" w="sm" type="none"/>
          </a:ln>
        </p:spPr>
      </p:pic>
      <p:sp>
        <p:nvSpPr>
          <p:cNvPr id="356" name="Google Shape;35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Differences</a:t>
            </a:r>
            <a:endParaRPr>
              <a:latin typeface="Times New Roman"/>
              <a:ea typeface="Times New Roman"/>
              <a:cs typeface="Times New Roman"/>
              <a:sym typeface="Times New Roman"/>
            </a:endParaRPr>
          </a:p>
        </p:txBody>
      </p:sp>
      <p:sp>
        <p:nvSpPr>
          <p:cNvPr id="357" name="Google Shape;357;p24"/>
          <p:cNvSpPr txBox="1"/>
          <p:nvPr>
            <p:ph idx="1" type="body"/>
          </p:nvPr>
        </p:nvSpPr>
        <p:spPr>
          <a:xfrm>
            <a:off x="4833900" y="1152475"/>
            <a:ext cx="399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00FF00"/>
                </a:solidFill>
                <a:latin typeface="Times New Roman"/>
                <a:ea typeface="Times New Roman"/>
                <a:cs typeface="Times New Roman"/>
                <a:sym typeface="Times New Roman"/>
              </a:rPr>
              <a:t>Kruskal_______________________</a:t>
            </a:r>
            <a:endParaRPr b="1" u="sng">
              <a:solidFill>
                <a:srgbClr val="00FF00"/>
              </a:solidFill>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rPr b="1" lang="en" sz="1600">
                <a:latin typeface="Times New Roman"/>
                <a:ea typeface="Times New Roman"/>
                <a:cs typeface="Times New Roman"/>
                <a:sym typeface="Times New Roman"/>
              </a:rPr>
              <a:t>Start</a:t>
            </a:r>
            <a:r>
              <a:rPr lang="en" sz="1600">
                <a:latin typeface="Times New Roman"/>
                <a:ea typeface="Times New Roman"/>
                <a:cs typeface="Times New Roman"/>
                <a:sym typeface="Times New Roman"/>
              </a:rPr>
              <a:t>: smallest edge</a:t>
            </a:r>
            <a:endParaRPr sz="1600">
              <a:latin typeface="Times New Roman"/>
              <a:ea typeface="Times New Roman"/>
              <a:cs typeface="Times New Roman"/>
              <a:sym typeface="Times New Roman"/>
            </a:endParaRPr>
          </a:p>
          <a:p>
            <a:pPr indent="0" lvl="0" marL="0" rtl="0" algn="l">
              <a:spcBef>
                <a:spcPts val="1200"/>
              </a:spcBef>
              <a:spcAft>
                <a:spcPts val="1200"/>
              </a:spcAft>
              <a:buNone/>
            </a:pPr>
            <a:r>
              <a:rPr b="1" lang="en" sz="1600">
                <a:latin typeface="Times New Roman"/>
                <a:ea typeface="Times New Roman"/>
                <a:cs typeface="Times New Roman"/>
                <a:sym typeface="Times New Roman"/>
              </a:rPr>
              <a:t>Order</a:t>
            </a:r>
            <a:r>
              <a:rPr lang="en" sz="1600">
                <a:latin typeface="Times New Roman"/>
                <a:ea typeface="Times New Roman"/>
                <a:cs typeface="Times New Roman"/>
                <a:sym typeface="Times New Roman"/>
              </a:rPr>
              <a:t>: 1, 2, 2, 4…</a:t>
            </a:r>
            <a:endParaRPr sz="1600">
              <a:latin typeface="Times New Roman"/>
              <a:ea typeface="Times New Roman"/>
              <a:cs typeface="Times New Roman"/>
              <a:sym typeface="Times New Roman"/>
            </a:endParaRPr>
          </a:p>
        </p:txBody>
      </p:sp>
      <p:cxnSp>
        <p:nvCxnSpPr>
          <p:cNvPr id="358" name="Google Shape;358;p24"/>
          <p:cNvCxnSpPr/>
          <p:nvPr/>
        </p:nvCxnSpPr>
        <p:spPr>
          <a:xfrm flipH="1">
            <a:off x="4572150" y="1150950"/>
            <a:ext cx="7800" cy="3413100"/>
          </a:xfrm>
          <a:prstGeom prst="straightConnector1">
            <a:avLst/>
          </a:prstGeom>
          <a:noFill/>
          <a:ln cap="flat" cmpd="sng" w="38100">
            <a:solidFill>
              <a:schemeClr val="dk2"/>
            </a:solidFill>
            <a:prstDash val="solid"/>
            <a:round/>
            <a:headEnd len="med" w="med" type="none"/>
            <a:tailEnd len="med" w="med" type="none"/>
          </a:ln>
        </p:spPr>
      </p:cxnSp>
      <p:pic>
        <p:nvPicPr>
          <p:cNvPr id="359" name="Google Shape;359;p24"/>
          <p:cNvPicPr preferRelativeResize="0"/>
          <p:nvPr/>
        </p:nvPicPr>
        <p:blipFill>
          <a:blip r:embed="rId4">
            <a:alphaModFix/>
          </a:blip>
          <a:stretch>
            <a:fillRect/>
          </a:stretch>
        </p:blipFill>
        <p:spPr>
          <a:xfrm>
            <a:off x="4924950" y="1607175"/>
            <a:ext cx="3835451" cy="1749962"/>
          </a:xfrm>
          <a:prstGeom prst="rect">
            <a:avLst/>
          </a:prstGeom>
          <a:noFill/>
          <a:ln cap="flat" cmpd="sng" w="28575">
            <a:solidFill>
              <a:srgbClr val="00FF00"/>
            </a:solidFill>
            <a:prstDash val="solid"/>
            <a:round/>
            <a:headEnd len="sm" w="sm" type="none"/>
            <a:tailEnd len="sm" w="sm" type="none"/>
          </a:ln>
        </p:spPr>
      </p:pic>
      <p:sp>
        <p:nvSpPr>
          <p:cNvPr id="360" name="Google Shape;360;p24"/>
          <p:cNvSpPr/>
          <p:nvPr/>
        </p:nvSpPr>
        <p:spPr>
          <a:xfrm>
            <a:off x="967525" y="2376538"/>
            <a:ext cx="208200" cy="211200"/>
          </a:xfrm>
          <a:prstGeom prst="ellipse">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24"/>
          <p:cNvSpPr/>
          <p:nvPr/>
        </p:nvSpPr>
        <p:spPr>
          <a:xfrm>
            <a:off x="6527250" y="2231213"/>
            <a:ext cx="208200" cy="211200"/>
          </a:xfrm>
          <a:prstGeom prst="ellipse">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24"/>
          <p:cNvSpPr/>
          <p:nvPr/>
        </p:nvSpPr>
        <p:spPr>
          <a:xfrm>
            <a:off x="7312825" y="3104238"/>
            <a:ext cx="208200" cy="211200"/>
          </a:xfrm>
          <a:prstGeom prst="ellipse">
            <a:avLst/>
          </a:prstGeom>
          <a:no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3" name="Google Shape;363;p24"/>
          <p:cNvCxnSpPr/>
          <p:nvPr/>
        </p:nvCxnSpPr>
        <p:spPr>
          <a:xfrm>
            <a:off x="956265" y="2396667"/>
            <a:ext cx="230700" cy="168900"/>
          </a:xfrm>
          <a:prstGeom prst="straightConnector1">
            <a:avLst/>
          </a:prstGeom>
          <a:noFill/>
          <a:ln cap="flat" cmpd="sng" w="9525">
            <a:solidFill>
              <a:srgbClr val="FF00FF"/>
            </a:solidFill>
            <a:prstDash val="solid"/>
            <a:round/>
            <a:headEnd len="med" w="med" type="none"/>
            <a:tailEnd len="med" w="med" type="none"/>
          </a:ln>
        </p:spPr>
      </p:cxnSp>
      <p:cxnSp>
        <p:nvCxnSpPr>
          <p:cNvPr id="364" name="Google Shape;364;p24"/>
          <p:cNvCxnSpPr/>
          <p:nvPr/>
        </p:nvCxnSpPr>
        <p:spPr>
          <a:xfrm flipH="1" rot="10800000">
            <a:off x="5893575" y="3061550"/>
            <a:ext cx="780600" cy="10500"/>
          </a:xfrm>
          <a:prstGeom prst="straightConnector1">
            <a:avLst/>
          </a:prstGeom>
          <a:noFill/>
          <a:ln cap="flat" cmpd="sng" w="28575">
            <a:solidFill>
              <a:srgbClr val="00FF00"/>
            </a:solidFill>
            <a:prstDash val="solid"/>
            <a:round/>
            <a:headEnd len="med" w="med" type="none"/>
            <a:tailEnd len="med" w="med" type="none"/>
          </a:ln>
        </p:spPr>
      </p:cxnSp>
      <p:cxnSp>
        <p:nvCxnSpPr>
          <p:cNvPr id="365" name="Google Shape;365;p24"/>
          <p:cNvCxnSpPr/>
          <p:nvPr/>
        </p:nvCxnSpPr>
        <p:spPr>
          <a:xfrm flipH="1" rot="10800000">
            <a:off x="6391050" y="2048025"/>
            <a:ext cx="337800" cy="352500"/>
          </a:xfrm>
          <a:prstGeom prst="straightConnector1">
            <a:avLst/>
          </a:prstGeom>
          <a:noFill/>
          <a:ln cap="flat" cmpd="sng" w="28575">
            <a:solidFill>
              <a:srgbClr val="00FF00"/>
            </a:solidFill>
            <a:prstDash val="solid"/>
            <a:round/>
            <a:headEnd len="med" w="med" type="none"/>
            <a:tailEnd len="med" w="med" type="none"/>
          </a:ln>
        </p:spPr>
      </p:cxnSp>
      <p:cxnSp>
        <p:nvCxnSpPr>
          <p:cNvPr id="366" name="Google Shape;366;p24"/>
          <p:cNvCxnSpPr/>
          <p:nvPr/>
        </p:nvCxnSpPr>
        <p:spPr>
          <a:xfrm flipH="1" rot="10800000">
            <a:off x="718675" y="2027600"/>
            <a:ext cx="356100" cy="358800"/>
          </a:xfrm>
          <a:prstGeom prst="straightConnector1">
            <a:avLst/>
          </a:prstGeom>
          <a:noFill/>
          <a:ln cap="flat" cmpd="sng" w="28575">
            <a:solidFill>
              <a:srgbClr val="FF00FF"/>
            </a:solidFill>
            <a:prstDash val="solid"/>
            <a:round/>
            <a:headEnd len="med" w="med" type="none"/>
            <a:tailEnd len="med" w="med" type="triangle"/>
          </a:ln>
        </p:spPr>
      </p:cxnSp>
      <p:sp>
        <p:nvSpPr>
          <p:cNvPr id="367" name="Google Shape;367;p24"/>
          <p:cNvSpPr/>
          <p:nvPr/>
        </p:nvSpPr>
        <p:spPr>
          <a:xfrm>
            <a:off x="1640300" y="1672488"/>
            <a:ext cx="208200" cy="211200"/>
          </a:xfrm>
          <a:prstGeom prst="ellipse">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68" name="Google Shape;368;p24"/>
          <p:cNvCxnSpPr/>
          <p:nvPr/>
        </p:nvCxnSpPr>
        <p:spPr>
          <a:xfrm>
            <a:off x="1343850" y="1918800"/>
            <a:ext cx="838800" cy="60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Advantages</a:t>
            </a:r>
            <a:endParaRPr>
              <a:latin typeface="Times New Roman"/>
              <a:ea typeface="Times New Roman"/>
              <a:cs typeface="Times New Roman"/>
              <a:sym typeface="Times New Roman"/>
            </a:endParaRPr>
          </a:p>
        </p:txBody>
      </p:sp>
      <p:sp>
        <p:nvSpPr>
          <p:cNvPr id="374" name="Google Shape;374;p25"/>
          <p:cNvSpPr txBox="1"/>
          <p:nvPr>
            <p:ph idx="1" type="body"/>
          </p:nvPr>
        </p:nvSpPr>
        <p:spPr>
          <a:xfrm>
            <a:off x="311700" y="1152475"/>
            <a:ext cx="399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FF00FF"/>
                </a:solidFill>
                <a:latin typeface="Times New Roman"/>
                <a:ea typeface="Times New Roman"/>
                <a:cs typeface="Times New Roman"/>
                <a:sym typeface="Times New Roman"/>
              </a:rPr>
              <a:t>Prim__________________________</a:t>
            </a:r>
            <a:endParaRPr b="1" u="sng">
              <a:solidFill>
                <a:srgbClr val="FF00FF"/>
              </a:solidFill>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457200" lvl="0" marL="137160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rPr lang="en" sz="1600">
                <a:latin typeface="Times New Roman"/>
                <a:ea typeface="Times New Roman"/>
                <a:cs typeface="Times New Roman"/>
                <a:sym typeface="Times New Roman"/>
              </a:rPr>
              <a:t>Better for </a:t>
            </a:r>
            <a:r>
              <a:rPr b="1" lang="en" sz="1600">
                <a:latin typeface="Times New Roman"/>
                <a:ea typeface="Times New Roman"/>
                <a:cs typeface="Times New Roman"/>
                <a:sym typeface="Times New Roman"/>
              </a:rPr>
              <a:t>d</a:t>
            </a:r>
            <a:r>
              <a:rPr b="1" lang="en" sz="1600">
                <a:latin typeface="Times New Roman"/>
                <a:ea typeface="Times New Roman"/>
                <a:cs typeface="Times New Roman"/>
                <a:sym typeface="Times New Roman"/>
              </a:rPr>
              <a:t>ense</a:t>
            </a:r>
            <a:endParaRPr sz="1600">
              <a:latin typeface="Times New Roman"/>
              <a:ea typeface="Times New Roman"/>
              <a:cs typeface="Times New Roman"/>
              <a:sym typeface="Times New Roman"/>
            </a:endParaRPr>
          </a:p>
        </p:txBody>
      </p:sp>
      <p:sp>
        <p:nvSpPr>
          <p:cNvPr id="375" name="Google Shape;375;p25"/>
          <p:cNvSpPr txBox="1"/>
          <p:nvPr>
            <p:ph idx="1" type="body"/>
          </p:nvPr>
        </p:nvSpPr>
        <p:spPr>
          <a:xfrm>
            <a:off x="4833900" y="1152475"/>
            <a:ext cx="3998400" cy="384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00FF00"/>
                </a:solidFill>
                <a:latin typeface="Times New Roman"/>
                <a:ea typeface="Times New Roman"/>
                <a:cs typeface="Times New Roman"/>
                <a:sym typeface="Times New Roman"/>
              </a:rPr>
              <a:t>Kruskal_______________________</a:t>
            </a:r>
            <a:endParaRPr b="1" u="sng">
              <a:solidFill>
                <a:srgbClr val="00FF00"/>
              </a:solidFill>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rPr lang="en" sz="1600">
                <a:latin typeface="Times New Roman"/>
                <a:ea typeface="Times New Roman"/>
                <a:cs typeface="Times New Roman"/>
                <a:sym typeface="Times New Roman"/>
              </a:rPr>
              <a:t>Need to </a:t>
            </a:r>
            <a:r>
              <a:rPr b="1" lang="en" sz="1600">
                <a:latin typeface="Times New Roman"/>
                <a:ea typeface="Times New Roman"/>
                <a:cs typeface="Times New Roman"/>
                <a:sym typeface="Times New Roman"/>
              </a:rPr>
              <a:t>sort edges</a:t>
            </a:r>
            <a:r>
              <a:rPr lang="en" sz="1600">
                <a:latin typeface="Times New Roman"/>
                <a:ea typeface="Times New Roman"/>
                <a:cs typeface="Times New Roman"/>
                <a:sym typeface="Times New Roman"/>
              </a:rPr>
              <a:t> = better for </a:t>
            </a:r>
            <a:r>
              <a:rPr b="1" lang="en" sz="1600">
                <a:latin typeface="Times New Roman"/>
                <a:ea typeface="Times New Roman"/>
                <a:cs typeface="Times New Roman"/>
                <a:sym typeface="Times New Roman"/>
              </a:rPr>
              <a:t>sparse</a:t>
            </a:r>
            <a:endParaRPr b="1" sz="1600">
              <a:latin typeface="Times New Roman"/>
              <a:ea typeface="Times New Roman"/>
              <a:cs typeface="Times New Roman"/>
              <a:sym typeface="Times New Roman"/>
            </a:endParaRPr>
          </a:p>
        </p:txBody>
      </p:sp>
      <p:cxnSp>
        <p:nvCxnSpPr>
          <p:cNvPr id="376" name="Google Shape;376;p25"/>
          <p:cNvCxnSpPr/>
          <p:nvPr/>
        </p:nvCxnSpPr>
        <p:spPr>
          <a:xfrm flipH="1">
            <a:off x="4572150" y="1150950"/>
            <a:ext cx="7800" cy="3413100"/>
          </a:xfrm>
          <a:prstGeom prst="straightConnector1">
            <a:avLst/>
          </a:prstGeom>
          <a:noFill/>
          <a:ln cap="flat" cmpd="sng" w="38100">
            <a:solidFill>
              <a:schemeClr val="dk2"/>
            </a:solidFill>
            <a:prstDash val="solid"/>
            <a:round/>
            <a:headEnd len="med" w="med" type="none"/>
            <a:tailEnd len="med" w="med" type="none"/>
          </a:ln>
        </p:spPr>
      </p:cxnSp>
      <p:pic>
        <p:nvPicPr>
          <p:cNvPr id="377" name="Google Shape;377;p25"/>
          <p:cNvPicPr preferRelativeResize="0"/>
          <p:nvPr/>
        </p:nvPicPr>
        <p:blipFill rotWithShape="1">
          <a:blip r:embed="rId3">
            <a:alphaModFix/>
          </a:blip>
          <a:srcRect b="0" l="0" r="53227" t="0"/>
          <a:stretch/>
        </p:blipFill>
        <p:spPr>
          <a:xfrm>
            <a:off x="395550" y="1718650"/>
            <a:ext cx="1999575" cy="2069150"/>
          </a:xfrm>
          <a:prstGeom prst="rect">
            <a:avLst/>
          </a:prstGeom>
          <a:noFill/>
          <a:ln cap="flat" cmpd="sng" w="28575">
            <a:solidFill>
              <a:srgbClr val="FF00FF"/>
            </a:solidFill>
            <a:prstDash val="solid"/>
            <a:round/>
            <a:headEnd len="sm" w="sm" type="none"/>
            <a:tailEnd len="sm" w="sm" type="none"/>
          </a:ln>
        </p:spPr>
      </p:pic>
      <p:pic>
        <p:nvPicPr>
          <p:cNvPr id="378" name="Google Shape;378;p25"/>
          <p:cNvPicPr preferRelativeResize="0"/>
          <p:nvPr/>
        </p:nvPicPr>
        <p:blipFill rotWithShape="1">
          <a:blip r:embed="rId3">
            <a:alphaModFix/>
          </a:blip>
          <a:srcRect b="0" l="54908" r="0" t="0"/>
          <a:stretch/>
        </p:blipFill>
        <p:spPr>
          <a:xfrm>
            <a:off x="4915700" y="1718650"/>
            <a:ext cx="1927760" cy="2069150"/>
          </a:xfrm>
          <a:prstGeom prst="rect">
            <a:avLst/>
          </a:prstGeom>
          <a:noFill/>
          <a:ln cap="flat" cmpd="sng" w="28575">
            <a:solidFill>
              <a:srgbClr val="00FF00"/>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Comparisons</a:t>
            </a:r>
            <a:endParaRPr>
              <a:latin typeface="Times New Roman"/>
              <a:ea typeface="Times New Roman"/>
              <a:cs typeface="Times New Roman"/>
              <a:sym typeface="Times New Roman"/>
            </a:endParaRPr>
          </a:p>
        </p:txBody>
      </p:sp>
      <p:sp>
        <p:nvSpPr>
          <p:cNvPr id="384" name="Google Shape;384;p26"/>
          <p:cNvSpPr txBox="1"/>
          <p:nvPr>
            <p:ph idx="1" type="body"/>
          </p:nvPr>
        </p:nvSpPr>
        <p:spPr>
          <a:xfrm>
            <a:off x="311700" y="1152475"/>
            <a:ext cx="39984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u="sng">
                <a:solidFill>
                  <a:srgbClr val="FF00FF"/>
                </a:solidFill>
                <a:latin typeface="Times New Roman"/>
                <a:ea typeface="Times New Roman"/>
                <a:cs typeface="Times New Roman"/>
                <a:sym typeface="Times New Roman"/>
              </a:rPr>
              <a:t>Prim__________________________</a:t>
            </a:r>
            <a:endParaRPr b="1" u="sng">
              <a:solidFill>
                <a:srgbClr val="FF00FF"/>
              </a:solidFill>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b="1" u="sng">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457200" lvl="0" marL="137160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400">
                <a:solidFill>
                  <a:schemeClr val="dk1"/>
                </a:solidFill>
                <a:latin typeface="Times New Roman"/>
                <a:ea typeface="Times New Roman"/>
                <a:cs typeface="Times New Roman"/>
                <a:sym typeface="Times New Roman"/>
              </a:rPr>
              <a:t>Priority queue (min-heap)</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O(ElogV)</a:t>
            </a:r>
            <a:endParaRPr sz="1400">
              <a:solidFill>
                <a:schemeClr val="dk1"/>
              </a:solidFill>
              <a:latin typeface="Times New Roman"/>
              <a:ea typeface="Times New Roman"/>
              <a:cs typeface="Times New Roman"/>
              <a:sym typeface="Times New Roman"/>
            </a:endParaRPr>
          </a:p>
        </p:txBody>
      </p:sp>
      <p:sp>
        <p:nvSpPr>
          <p:cNvPr id="385" name="Google Shape;385;p26"/>
          <p:cNvSpPr txBox="1"/>
          <p:nvPr>
            <p:ph idx="1" type="body"/>
          </p:nvPr>
        </p:nvSpPr>
        <p:spPr>
          <a:xfrm>
            <a:off x="4833900" y="1152475"/>
            <a:ext cx="3998400" cy="371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solidFill>
                  <a:srgbClr val="00FF00"/>
                </a:solidFill>
                <a:latin typeface="Times New Roman"/>
                <a:ea typeface="Times New Roman"/>
                <a:cs typeface="Times New Roman"/>
                <a:sym typeface="Times New Roman"/>
              </a:rPr>
              <a:t>Kruskal_______________________</a:t>
            </a:r>
            <a:endParaRPr b="1" u="sng">
              <a:solidFill>
                <a:srgbClr val="00FF00"/>
              </a:solidFill>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0     1     2     3     4     5     6     7</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0—--2    1     3     4     5     6     7      union(0, 2)</a:t>
            </a:r>
            <a:endParaRPr sz="14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400">
                <a:latin typeface="Times New Roman"/>
                <a:ea typeface="Times New Roman"/>
                <a:cs typeface="Times New Roman"/>
                <a:sym typeface="Times New Roman"/>
              </a:rPr>
              <a:t>0—--2    1     3     4—--6    5     7      union(4, 6)</a:t>
            </a:r>
            <a:endParaRPr sz="1400">
              <a:latin typeface="Times New Roman"/>
              <a:ea typeface="Times New Roman"/>
              <a:cs typeface="Times New Roman"/>
              <a:sym typeface="Times New Roman"/>
            </a:endParaRPr>
          </a:p>
          <a:p>
            <a:pPr indent="0" lvl="0" marL="0" rtl="0" algn="l">
              <a:spcBef>
                <a:spcPts val="1200"/>
              </a:spcBef>
              <a:spcAft>
                <a:spcPts val="0"/>
              </a:spcAft>
              <a:buNone/>
            </a:pPr>
            <a:r>
              <a:rPr lang="en" sz="1400">
                <a:latin typeface="Times New Roman"/>
                <a:ea typeface="Times New Roman"/>
                <a:cs typeface="Times New Roman"/>
                <a:sym typeface="Times New Roman"/>
              </a:rPr>
              <a:t>0—--2—-4—-6    1      3     5     7     union(2, 4)</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400">
                <a:solidFill>
                  <a:schemeClr val="dk1"/>
                </a:solidFill>
                <a:latin typeface="Times New Roman"/>
                <a:ea typeface="Times New Roman"/>
                <a:cs typeface="Times New Roman"/>
                <a:sym typeface="Times New Roman"/>
              </a:rPr>
              <a:t>Union-find (disjoint-set union), detects cycles</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400">
                <a:solidFill>
                  <a:schemeClr val="dk1"/>
                </a:solidFill>
                <a:latin typeface="Times New Roman"/>
                <a:ea typeface="Times New Roman"/>
                <a:cs typeface="Times New Roman"/>
                <a:sym typeface="Times New Roman"/>
              </a:rPr>
              <a:t>O(ElogV)</a:t>
            </a:r>
            <a:endParaRPr sz="14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p:txBody>
      </p:sp>
      <p:cxnSp>
        <p:nvCxnSpPr>
          <p:cNvPr id="386" name="Google Shape;386;p26"/>
          <p:cNvCxnSpPr/>
          <p:nvPr/>
        </p:nvCxnSpPr>
        <p:spPr>
          <a:xfrm flipH="1">
            <a:off x="4572150" y="1150950"/>
            <a:ext cx="7800" cy="3413100"/>
          </a:xfrm>
          <a:prstGeom prst="straightConnector1">
            <a:avLst/>
          </a:prstGeom>
          <a:noFill/>
          <a:ln cap="flat" cmpd="sng" w="38100">
            <a:solidFill>
              <a:schemeClr val="dk2"/>
            </a:solidFill>
            <a:prstDash val="solid"/>
            <a:round/>
            <a:headEnd len="med" w="med" type="none"/>
            <a:tailEnd len="med" w="med" type="none"/>
          </a:ln>
        </p:spPr>
      </p:cxnSp>
      <p:pic>
        <p:nvPicPr>
          <p:cNvPr id="387" name="Google Shape;387;p26"/>
          <p:cNvPicPr preferRelativeResize="0"/>
          <p:nvPr/>
        </p:nvPicPr>
        <p:blipFill>
          <a:blip r:embed="rId3">
            <a:alphaModFix/>
          </a:blip>
          <a:stretch>
            <a:fillRect/>
          </a:stretch>
        </p:blipFill>
        <p:spPr>
          <a:xfrm>
            <a:off x="403800" y="1661150"/>
            <a:ext cx="2819476" cy="1941951"/>
          </a:xfrm>
          <a:prstGeom prst="rect">
            <a:avLst/>
          </a:prstGeom>
          <a:noFill/>
          <a:ln cap="flat" cmpd="sng" w="28575">
            <a:solidFill>
              <a:srgbClr val="FF00FF"/>
            </a:solidFill>
            <a:prstDash val="solid"/>
            <a:round/>
            <a:headEnd len="sm" w="sm" type="none"/>
            <a:tailEnd len="sm" w="sm" type="none"/>
          </a:ln>
        </p:spPr>
      </p:pic>
      <p:pic>
        <p:nvPicPr>
          <p:cNvPr id="388" name="Google Shape;388;p26"/>
          <p:cNvPicPr preferRelativeResize="0"/>
          <p:nvPr/>
        </p:nvPicPr>
        <p:blipFill>
          <a:blip r:embed="rId4">
            <a:alphaModFix/>
          </a:blip>
          <a:stretch>
            <a:fillRect/>
          </a:stretch>
        </p:blipFill>
        <p:spPr>
          <a:xfrm>
            <a:off x="4906900" y="1661150"/>
            <a:ext cx="3660843" cy="1941950"/>
          </a:xfrm>
          <a:prstGeom prst="rect">
            <a:avLst/>
          </a:prstGeom>
          <a:noFill/>
          <a:ln cap="flat" cmpd="sng" w="28575">
            <a:solidFill>
              <a:srgbClr val="00FF0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Conclusions of Minimum Spanning Tree</a:t>
            </a:r>
            <a:endParaRPr>
              <a:latin typeface="Times New Roman"/>
              <a:ea typeface="Times New Roman"/>
              <a:cs typeface="Times New Roman"/>
              <a:sym typeface="Times New Roman"/>
            </a:endParaRPr>
          </a:p>
        </p:txBody>
      </p:sp>
      <p:sp>
        <p:nvSpPr>
          <p:cNvPr id="394" name="Google Shape;39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i="1" lang="en">
                <a:latin typeface="Times New Roman"/>
                <a:ea typeface="Times New Roman"/>
                <a:cs typeface="Times New Roman"/>
                <a:sym typeface="Times New Roman"/>
              </a:rPr>
              <a:t>Tree</a:t>
            </a:r>
            <a:r>
              <a:rPr lang="en">
                <a:latin typeface="Times New Roman"/>
                <a:ea typeface="Times New Roman"/>
                <a:cs typeface="Times New Roman"/>
                <a:sym typeface="Times New Roman"/>
              </a:rPr>
              <a:t> connecting </a:t>
            </a:r>
            <a:r>
              <a:rPr b="1" i="1" lang="en">
                <a:latin typeface="Times New Roman"/>
                <a:ea typeface="Times New Roman"/>
                <a:cs typeface="Times New Roman"/>
                <a:sym typeface="Times New Roman"/>
              </a:rPr>
              <a:t>all vertices</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using</a:t>
            </a:r>
            <a:r>
              <a:rPr lang="en">
                <a:latin typeface="Times New Roman"/>
                <a:ea typeface="Times New Roman"/>
                <a:cs typeface="Times New Roman"/>
                <a:sym typeface="Times New Roman"/>
              </a:rPr>
              <a:t> </a:t>
            </a:r>
            <a:r>
              <a:rPr b="1" i="1" lang="en">
                <a:latin typeface="Times New Roman"/>
                <a:ea typeface="Times New Roman"/>
                <a:cs typeface="Times New Roman"/>
                <a:sym typeface="Times New Roman"/>
              </a:rPr>
              <a:t>minimum cost</a:t>
            </a:r>
            <a:endParaRPr b="1" i="1">
              <a:latin typeface="Times New Roman"/>
              <a:ea typeface="Times New Roman"/>
              <a:cs typeface="Times New Roman"/>
              <a:sym typeface="Times New Roman"/>
            </a:endParaRPr>
          </a:p>
          <a:p>
            <a:pPr indent="-342900" lvl="0" marL="457200" rtl="0" algn="l">
              <a:spcBef>
                <a:spcPts val="0"/>
              </a:spcBef>
              <a:spcAft>
                <a:spcPts val="0"/>
              </a:spcAft>
              <a:buSzPts val="1800"/>
              <a:buChar char="-"/>
            </a:pPr>
            <a:r>
              <a:rPr b="1" i="1" lang="en">
                <a:latin typeface="Times New Roman"/>
                <a:ea typeface="Times New Roman"/>
                <a:cs typeface="Times New Roman"/>
                <a:sym typeface="Times New Roman"/>
              </a:rPr>
              <a:t>Various</a:t>
            </a:r>
            <a:r>
              <a:rPr i="1" lang="en">
                <a:latin typeface="Times New Roman"/>
                <a:ea typeface="Times New Roman"/>
                <a:cs typeface="Times New Roman"/>
                <a:sym typeface="Times New Roman"/>
              </a:rPr>
              <a:t> </a:t>
            </a:r>
            <a:r>
              <a:rPr lang="en">
                <a:latin typeface="Times New Roman"/>
                <a:ea typeface="Times New Roman"/>
                <a:cs typeface="Times New Roman"/>
                <a:sym typeface="Times New Roman"/>
              </a:rPr>
              <a:t>algorithms, </a:t>
            </a:r>
            <a:r>
              <a:rPr b="1" i="1" lang="en">
                <a:latin typeface="Times New Roman"/>
                <a:ea typeface="Times New Roman"/>
                <a:cs typeface="Times New Roman"/>
                <a:sym typeface="Times New Roman"/>
              </a:rPr>
              <a:t>Prim</a:t>
            </a:r>
            <a:r>
              <a:rPr lang="en">
                <a:latin typeface="Times New Roman"/>
                <a:ea typeface="Times New Roman"/>
                <a:cs typeface="Times New Roman"/>
                <a:sym typeface="Times New Roman"/>
              </a:rPr>
              <a:t> and </a:t>
            </a:r>
            <a:r>
              <a:rPr b="1" i="1" lang="en">
                <a:latin typeface="Times New Roman"/>
                <a:ea typeface="Times New Roman"/>
                <a:cs typeface="Times New Roman"/>
                <a:sym typeface="Times New Roman"/>
              </a:rPr>
              <a:t>Kruskal</a:t>
            </a:r>
            <a:endParaRPr b="1" i="1">
              <a:latin typeface="Times New Roman"/>
              <a:ea typeface="Times New Roman"/>
              <a:cs typeface="Times New Roman"/>
              <a:sym typeface="Times New Roman"/>
            </a:endParaRPr>
          </a:p>
          <a:p>
            <a:pPr indent="-342900" lvl="0" marL="457200" rtl="0" algn="l">
              <a:spcBef>
                <a:spcPts val="0"/>
              </a:spcBef>
              <a:spcAft>
                <a:spcPts val="0"/>
              </a:spcAft>
              <a:buSzPts val="1800"/>
              <a:buChar char="-"/>
            </a:pPr>
            <a:r>
              <a:rPr b="1" i="1" lang="en">
                <a:latin typeface="Times New Roman"/>
                <a:ea typeface="Times New Roman"/>
                <a:cs typeface="Times New Roman"/>
                <a:sym typeface="Times New Roman"/>
              </a:rPr>
              <a:t>Greedy</a:t>
            </a:r>
            <a:r>
              <a:rPr lang="en">
                <a:latin typeface="Times New Roman"/>
                <a:ea typeface="Times New Roman"/>
                <a:cs typeface="Times New Roman"/>
                <a:sym typeface="Times New Roman"/>
              </a:rPr>
              <a:t>.</a:t>
            </a:r>
            <a:r>
              <a:rPr lang="en">
                <a:latin typeface="Times New Roman"/>
                <a:ea typeface="Times New Roman"/>
                <a:cs typeface="Times New Roman"/>
                <a:sym typeface="Times New Roman"/>
              </a:rPr>
              <a:t> </a:t>
            </a:r>
            <a:r>
              <a:rPr b="1" i="1" lang="en">
                <a:latin typeface="Times New Roman"/>
                <a:ea typeface="Times New Roman"/>
                <a:cs typeface="Times New Roman"/>
                <a:sym typeface="Times New Roman"/>
              </a:rPr>
              <a:t>Local</a:t>
            </a:r>
            <a:r>
              <a:rPr lang="en">
                <a:latin typeface="Times New Roman"/>
                <a:ea typeface="Times New Roman"/>
                <a:cs typeface="Times New Roman"/>
                <a:sym typeface="Times New Roman"/>
              </a:rPr>
              <a:t> solution = </a:t>
            </a:r>
            <a:r>
              <a:rPr b="1" i="1" lang="en">
                <a:latin typeface="Times New Roman"/>
                <a:ea typeface="Times New Roman"/>
                <a:cs typeface="Times New Roman"/>
                <a:sym typeface="Times New Roman"/>
              </a:rPr>
              <a:t>global </a:t>
            </a:r>
            <a:r>
              <a:rPr lang="en">
                <a:latin typeface="Times New Roman"/>
                <a:ea typeface="Times New Roman"/>
                <a:cs typeface="Times New Roman"/>
                <a:sym typeface="Times New Roman"/>
              </a:rPr>
              <a:t>solution</a:t>
            </a:r>
            <a:endParaRPr>
              <a:latin typeface="Times New Roman"/>
              <a:ea typeface="Times New Roman"/>
              <a:cs typeface="Times New Roman"/>
              <a:sym typeface="Times New Roman"/>
            </a:endParaRPr>
          </a:p>
        </p:txBody>
      </p:sp>
      <p:pic>
        <p:nvPicPr>
          <p:cNvPr id="395" name="Google Shape;395;p27"/>
          <p:cNvPicPr preferRelativeResize="0"/>
          <p:nvPr/>
        </p:nvPicPr>
        <p:blipFill>
          <a:blip r:embed="rId3">
            <a:alphaModFix/>
          </a:blip>
          <a:stretch>
            <a:fillRect/>
          </a:stretch>
        </p:blipFill>
        <p:spPr>
          <a:xfrm>
            <a:off x="437363" y="2207548"/>
            <a:ext cx="5234226" cy="2423625"/>
          </a:xfrm>
          <a:prstGeom prst="rect">
            <a:avLst/>
          </a:prstGeom>
          <a:noFill/>
          <a:ln>
            <a:noFill/>
          </a:ln>
        </p:spPr>
      </p:pic>
      <p:pic>
        <p:nvPicPr>
          <p:cNvPr id="396" name="Google Shape;396;p27"/>
          <p:cNvPicPr preferRelativeResize="0"/>
          <p:nvPr/>
        </p:nvPicPr>
        <p:blipFill>
          <a:blip r:embed="rId4">
            <a:alphaModFix/>
          </a:blip>
          <a:stretch>
            <a:fillRect/>
          </a:stretch>
        </p:blipFill>
        <p:spPr>
          <a:xfrm>
            <a:off x="437375" y="2269851"/>
            <a:ext cx="5234224" cy="2299016"/>
          </a:xfrm>
          <a:prstGeom prst="rect">
            <a:avLst/>
          </a:prstGeom>
          <a:noFill/>
          <a:ln>
            <a:noFill/>
          </a:ln>
        </p:spPr>
      </p:pic>
      <p:pic>
        <p:nvPicPr>
          <p:cNvPr id="397" name="Google Shape;397;p27"/>
          <p:cNvPicPr preferRelativeResize="0"/>
          <p:nvPr/>
        </p:nvPicPr>
        <p:blipFill>
          <a:blip r:embed="rId5">
            <a:alphaModFix/>
          </a:blip>
          <a:stretch>
            <a:fillRect/>
          </a:stretch>
        </p:blipFill>
        <p:spPr>
          <a:xfrm>
            <a:off x="5671598" y="1327250"/>
            <a:ext cx="3206700" cy="3359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Questions</a:t>
            </a:r>
            <a:endParaRPr>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408" name="Google Shape;40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Wikipedia contributors. (2024, October 12). </a:t>
            </a:r>
            <a:r>
              <a:rPr i="1" lang="en" sz="1100">
                <a:solidFill>
                  <a:schemeClr val="dk1"/>
                </a:solidFill>
                <a:latin typeface="Times New Roman"/>
                <a:ea typeface="Times New Roman"/>
                <a:cs typeface="Times New Roman"/>
                <a:sym typeface="Times New Roman"/>
              </a:rPr>
              <a:t>Borůvka’s algorithm</a:t>
            </a:r>
            <a:r>
              <a:rPr lang="en" sz="1100">
                <a:solidFill>
                  <a:schemeClr val="dk1"/>
                </a:solidFill>
                <a:latin typeface="Times New Roman"/>
                <a:ea typeface="Times New Roman"/>
                <a:cs typeface="Times New Roman"/>
                <a:sym typeface="Times New Roman"/>
              </a:rPr>
              <a:t>. </a:t>
            </a:r>
            <a:r>
              <a:rPr lang="en" sz="1100">
                <a:solidFill>
                  <a:srgbClr val="202122"/>
                </a:solidFill>
                <a:highlight>
                  <a:srgbClr val="FFFFFF"/>
                </a:highlight>
                <a:latin typeface="Times New Roman"/>
                <a:ea typeface="Times New Roman"/>
                <a:cs typeface="Times New Roman"/>
                <a:sym typeface="Times New Roman"/>
              </a:rPr>
              <a:t>In </a:t>
            </a:r>
            <a:r>
              <a:rPr i="1" lang="en" sz="1100">
                <a:solidFill>
                  <a:srgbClr val="202122"/>
                </a:solidFill>
                <a:highlight>
                  <a:srgbClr val="FFFFFF"/>
                </a:highlight>
                <a:latin typeface="Times New Roman"/>
                <a:ea typeface="Times New Roman"/>
                <a:cs typeface="Times New Roman"/>
                <a:sym typeface="Times New Roman"/>
              </a:rPr>
              <a:t>Wikipedia, The Free Encyclopedia</a:t>
            </a:r>
            <a:r>
              <a:rPr lang="en" sz="1100">
                <a:solidFill>
                  <a:srgbClr val="202122"/>
                </a:solidFill>
                <a:highlight>
                  <a:srgbClr val="FFFFFF"/>
                </a:highlight>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Retrieved from</a:t>
            </a:r>
            <a:endParaRPr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lang="en" sz="1100" u="sng">
                <a:solidFill>
                  <a:schemeClr val="hlink"/>
                </a:solidFill>
                <a:latin typeface="Times New Roman"/>
                <a:ea typeface="Times New Roman"/>
                <a:cs typeface="Times New Roman"/>
                <a:sym typeface="Times New Roman"/>
                <a:hlinkClick r:id="rId3"/>
              </a:rPr>
              <a:t>https://en.wikipedia.org/wiki/Bor%C5%AFvka%27s_algorithm</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i="1" lang="en" sz="1100">
                <a:solidFill>
                  <a:schemeClr val="dk1"/>
                </a:solidFill>
                <a:latin typeface="Times New Roman"/>
                <a:ea typeface="Times New Roman"/>
                <a:cs typeface="Times New Roman"/>
                <a:sym typeface="Times New Roman"/>
              </a:rPr>
              <a:t>Applications of Minimum Spanning Trees in Network Design</a:t>
            </a:r>
            <a:r>
              <a:rPr lang="en" sz="1100">
                <a:solidFill>
                  <a:schemeClr val="dk1"/>
                </a:solidFill>
                <a:latin typeface="Times New Roman"/>
                <a:ea typeface="Times New Roman"/>
                <a:cs typeface="Times New Roman"/>
                <a:sym typeface="Times New Roman"/>
              </a:rPr>
              <a:t>. (n.d.). </a:t>
            </a:r>
            <a:r>
              <a:rPr i="1" lang="en" sz="1100">
                <a:solidFill>
                  <a:schemeClr val="dk1"/>
                </a:solidFill>
                <a:latin typeface="Times New Roman"/>
                <a:ea typeface="Times New Roman"/>
                <a:cs typeface="Times New Roman"/>
                <a:sym typeface="Times New Roman"/>
              </a:rPr>
              <a:t>UT Dallas</a:t>
            </a:r>
            <a:r>
              <a:rPr lang="en" sz="1100">
                <a:solidFill>
                  <a:schemeClr val="dk1"/>
                </a:solidFill>
                <a:latin typeface="Times New Roman"/>
                <a:ea typeface="Times New Roman"/>
                <a:cs typeface="Times New Roman"/>
                <a:sym typeface="Times New Roman"/>
              </a:rPr>
              <a:t>. Retrieved from</a:t>
            </a:r>
            <a:endParaRPr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lang="en" sz="1100" u="sng">
                <a:solidFill>
                  <a:schemeClr val="accent5"/>
                </a:solidFill>
                <a:latin typeface="Times New Roman"/>
                <a:ea typeface="Times New Roman"/>
                <a:cs typeface="Times New Roman"/>
                <a:sym typeface="Times New Roman"/>
                <a:hlinkClick r:id="rId4">
                  <a:extLst>
                    <a:ext uri="{A12FA001-AC4F-418D-AE19-62706E023703}">
                      <ahyp:hlinkClr val="tx"/>
                    </a:ext>
                  </a:extLst>
                </a:hlinkClick>
              </a:rPr>
              <a:t>https://personal.utdallas.edu/~besp/teaching/mst-applications.pdf</a:t>
            </a:r>
            <a:endParaRPr sz="1100">
              <a:solidFill>
                <a:schemeClr val="accent5"/>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Wikipedia contributors. (2024, October 9). </a:t>
            </a:r>
            <a:r>
              <a:rPr i="1" lang="en" sz="1100">
                <a:solidFill>
                  <a:schemeClr val="dk1"/>
                </a:solidFill>
                <a:latin typeface="Times New Roman"/>
                <a:ea typeface="Times New Roman"/>
                <a:cs typeface="Times New Roman"/>
                <a:sym typeface="Times New Roman"/>
              </a:rPr>
              <a:t>Minimum Spanning Tree</a:t>
            </a:r>
            <a:r>
              <a:rPr lang="en" sz="1100">
                <a:solidFill>
                  <a:schemeClr val="dk1"/>
                </a:solidFill>
                <a:latin typeface="Times New Roman"/>
                <a:ea typeface="Times New Roman"/>
                <a:cs typeface="Times New Roman"/>
                <a:sym typeface="Times New Roman"/>
              </a:rPr>
              <a:t>. </a:t>
            </a:r>
            <a:r>
              <a:rPr lang="en" sz="1100">
                <a:solidFill>
                  <a:srgbClr val="202122"/>
                </a:solidFill>
                <a:highlight>
                  <a:srgbClr val="FFFFFF"/>
                </a:highlight>
                <a:latin typeface="Times New Roman"/>
                <a:ea typeface="Times New Roman"/>
                <a:cs typeface="Times New Roman"/>
                <a:sym typeface="Times New Roman"/>
              </a:rPr>
              <a:t>In </a:t>
            </a:r>
            <a:r>
              <a:rPr i="1" lang="en" sz="1100">
                <a:solidFill>
                  <a:srgbClr val="202122"/>
                </a:solidFill>
                <a:highlight>
                  <a:srgbClr val="FFFFFF"/>
                </a:highlight>
                <a:latin typeface="Times New Roman"/>
                <a:ea typeface="Times New Roman"/>
                <a:cs typeface="Times New Roman"/>
                <a:sym typeface="Times New Roman"/>
              </a:rPr>
              <a:t>Wikipedia, The Free Encyclopedia</a:t>
            </a:r>
            <a:r>
              <a:rPr lang="en" sz="1100">
                <a:solidFill>
                  <a:srgbClr val="202122"/>
                </a:solidFill>
                <a:highlight>
                  <a:srgbClr val="FFFFFF"/>
                </a:highlight>
                <a:latin typeface="Times New Roman"/>
                <a:ea typeface="Times New Roman"/>
                <a:cs typeface="Times New Roman"/>
                <a:sym typeface="Times New Roman"/>
              </a:rPr>
              <a:t>.</a:t>
            </a:r>
            <a:r>
              <a:rPr lang="en" sz="1100">
                <a:solidFill>
                  <a:schemeClr val="dk1"/>
                </a:solidFill>
                <a:latin typeface="Times New Roman"/>
                <a:ea typeface="Times New Roman"/>
                <a:cs typeface="Times New Roman"/>
                <a:sym typeface="Times New Roman"/>
              </a:rPr>
              <a:t> Retrieved from</a:t>
            </a:r>
            <a:endParaRPr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lang="en" sz="1100" u="sng">
                <a:solidFill>
                  <a:schemeClr val="accent5"/>
                </a:solidFill>
                <a:latin typeface="Times New Roman"/>
                <a:ea typeface="Times New Roman"/>
                <a:cs typeface="Times New Roman"/>
                <a:sym typeface="Times New Roman"/>
                <a:hlinkClick r:id="rId5">
                  <a:extLst>
                    <a:ext uri="{A12FA001-AC4F-418D-AE19-62706E023703}">
                      <ahyp:hlinkClr val="tx"/>
                    </a:ext>
                  </a:extLst>
                </a:hlinkClick>
              </a:rPr>
              <a:t>https://en.wikipedia.org/wiki/Minimum_spanning_tree</a:t>
            </a:r>
            <a:endParaRPr sz="1100" u="sng">
              <a:solidFill>
                <a:schemeClr val="accent5"/>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Nesetril, J., Milkova, E. &amp; Nesetrilova, H.</a:t>
            </a:r>
            <a:r>
              <a:rPr lang="en" sz="1100">
                <a:solidFill>
                  <a:schemeClr val="dk1"/>
                </a:solidFill>
                <a:latin typeface="Times New Roman"/>
                <a:ea typeface="Times New Roman"/>
                <a:cs typeface="Times New Roman"/>
                <a:sym typeface="Times New Roman"/>
              </a:rPr>
              <a:t> </a:t>
            </a:r>
            <a:r>
              <a:rPr lang="en" sz="1100">
                <a:solidFill>
                  <a:schemeClr val="dk1"/>
                </a:solidFill>
                <a:latin typeface="Times New Roman"/>
                <a:ea typeface="Times New Roman"/>
                <a:cs typeface="Times New Roman"/>
                <a:sym typeface="Times New Roman"/>
              </a:rPr>
              <a:t>(2001). </a:t>
            </a:r>
            <a:r>
              <a:rPr i="1" lang="en" sz="1100">
                <a:solidFill>
                  <a:schemeClr val="dk1"/>
                </a:solidFill>
                <a:latin typeface="Times New Roman"/>
                <a:ea typeface="Times New Roman"/>
                <a:cs typeface="Times New Roman"/>
                <a:sym typeface="Times New Roman"/>
              </a:rPr>
              <a:t>Otakar Boruvka on minimum spanning tree problem Translation of both the 1926</a:t>
            </a:r>
            <a:endParaRPr i="1"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i="1" lang="en" sz="1100">
                <a:solidFill>
                  <a:schemeClr val="dk1"/>
                </a:solidFill>
                <a:latin typeface="Times New Roman"/>
                <a:ea typeface="Times New Roman"/>
                <a:cs typeface="Times New Roman"/>
                <a:sym typeface="Times New Roman"/>
              </a:rPr>
              <a:t>papers, comments, history. Discrete Mathematics</a:t>
            </a:r>
            <a:r>
              <a:rPr lang="en" sz="1100">
                <a:solidFill>
                  <a:schemeClr val="dk1"/>
                </a:solidFill>
                <a:latin typeface="Times New Roman"/>
                <a:ea typeface="Times New Roman"/>
                <a:cs typeface="Times New Roman"/>
                <a:sym typeface="Times New Roman"/>
              </a:rPr>
              <a:t>. </a:t>
            </a:r>
            <a:r>
              <a:rPr lang="en" sz="1100">
                <a:solidFill>
                  <a:schemeClr val="dk1"/>
                </a:solidFill>
                <a:latin typeface="Times New Roman"/>
                <a:ea typeface="Times New Roman"/>
                <a:cs typeface="Times New Roman"/>
                <a:sym typeface="Times New Roman"/>
              </a:rPr>
              <a:t>Retrieved from</a:t>
            </a:r>
            <a:endParaRPr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lang="en" sz="1100" u="sng">
                <a:solidFill>
                  <a:schemeClr val="hlink"/>
                </a:solidFill>
                <a:latin typeface="Times New Roman"/>
                <a:ea typeface="Times New Roman"/>
                <a:cs typeface="Times New Roman"/>
                <a:sym typeface="Times New Roman"/>
                <a:hlinkClick r:id="rId6"/>
              </a:rPr>
              <a:t>https://www.cs.mun.ca/~kol/courses/6901-f16/boruvka-nmn.pdf</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Narayan, Darren, (2007).</a:t>
            </a:r>
            <a:r>
              <a:rPr i="1" lang="en" sz="1100">
                <a:solidFill>
                  <a:schemeClr val="dk1"/>
                </a:solidFill>
                <a:latin typeface="Times New Roman"/>
                <a:ea typeface="Times New Roman"/>
                <a:cs typeface="Times New Roman"/>
                <a:sym typeface="Times New Roman"/>
              </a:rPr>
              <a:t> Modern applications of graph theory. Congressus Numerantium</a:t>
            </a:r>
            <a:r>
              <a:rPr lang="en" sz="1100">
                <a:solidFill>
                  <a:schemeClr val="dk1"/>
                </a:solidFill>
                <a:latin typeface="Times New Roman"/>
                <a:ea typeface="Times New Roman"/>
                <a:cs typeface="Times New Roman"/>
                <a:sym typeface="Times New Roman"/>
              </a:rPr>
              <a:t>.</a:t>
            </a:r>
            <a:r>
              <a:rPr i="1" lang="en" sz="1100">
                <a:solidFill>
                  <a:schemeClr val="dk1"/>
                </a:solidFill>
                <a:latin typeface="Times New Roman"/>
                <a:ea typeface="Times New Roman"/>
                <a:cs typeface="Times New Roman"/>
                <a:sym typeface="Times New Roman"/>
              </a:rPr>
              <a:t> </a:t>
            </a:r>
            <a:r>
              <a:rPr lang="en" sz="1100">
                <a:solidFill>
                  <a:schemeClr val="dk1"/>
                </a:solidFill>
                <a:latin typeface="Times New Roman"/>
                <a:ea typeface="Times New Roman"/>
                <a:cs typeface="Times New Roman"/>
                <a:sym typeface="Times New Roman"/>
              </a:rPr>
              <a:t>Retrieved from</a:t>
            </a:r>
            <a:endParaRPr sz="1100">
              <a:solidFill>
                <a:schemeClr val="dk1"/>
              </a:solidFill>
              <a:latin typeface="Times New Roman"/>
              <a:ea typeface="Times New Roman"/>
              <a:cs typeface="Times New Roman"/>
              <a:sym typeface="Times New Roman"/>
            </a:endParaRPr>
          </a:p>
          <a:p>
            <a:pPr indent="457200" lvl="0" marL="0" rtl="0" algn="l">
              <a:spcBef>
                <a:spcPts val="0"/>
              </a:spcBef>
              <a:spcAft>
                <a:spcPts val="0"/>
              </a:spcAft>
              <a:buNone/>
            </a:pPr>
            <a:r>
              <a:rPr lang="en" sz="1100" u="sng">
                <a:solidFill>
                  <a:schemeClr val="hlink"/>
                </a:solidFill>
                <a:latin typeface="Times New Roman"/>
                <a:ea typeface="Times New Roman"/>
                <a:cs typeface="Times New Roman"/>
                <a:sym typeface="Times New Roman"/>
                <a:hlinkClick r:id="rId7"/>
              </a:rPr>
              <a:t>https://www.researchgate.net/publication/264916066_Modern_applications_of_graph_theory</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Cormen, T. H., Leiserson, C. E., Rivest, R. L., &amp; Stein, C. (2009). Ch.23: Minimum Spanning Trees. In Introduction to algorithms (pp.		624–642). essay, MIT Press. </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GeeksforGeeks,  argha_c14. (2024, July 17). Difference between Prim’s and Kruskal’s algorithm for MST. 					</a:t>
            </a:r>
            <a:r>
              <a:rPr lang="en" sz="1100" u="sng">
                <a:solidFill>
                  <a:schemeClr val="hlink"/>
                </a:solidFill>
                <a:latin typeface="Times New Roman"/>
                <a:ea typeface="Times New Roman"/>
                <a:cs typeface="Times New Roman"/>
                <a:sym typeface="Times New Roman"/>
                <a:hlinkClick r:id="rId8"/>
              </a:rPr>
              <a:t>https://www.geeksforgeeks.org/difference-between-prims-and-kruskals-algorithm-for-mst/</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Optimal disease outbreak detection in a community using network observability - Scientific Figure on ResearchGate. Available from: </a:t>
            </a:r>
            <a:endParaRPr sz="11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 sz="1100" u="sng">
                <a:solidFill>
                  <a:schemeClr val="hlink"/>
                </a:solidFill>
                <a:latin typeface="Times New Roman"/>
                <a:ea typeface="Times New Roman"/>
                <a:cs typeface="Times New Roman"/>
                <a:sym typeface="Times New Roman"/>
                <a:hlinkClick r:id="rId9"/>
              </a:rPr>
              <a:t>https://www.researchgate.net/figure/Two-different-graph-topologies-of-a-network-of-15-nodes-a-dense-and-b-sparse_fig1_305869701</a:t>
            </a:r>
            <a:r>
              <a:rPr lang="en" sz="1100">
                <a:solidFill>
                  <a:schemeClr val="dk1"/>
                </a:solidFill>
                <a:latin typeface="Times New Roman"/>
                <a:ea typeface="Times New Roman"/>
                <a:cs typeface="Times New Roman"/>
                <a:sym typeface="Times New Roman"/>
              </a:rPr>
              <a:t> [accessed 1 Dec 2024]</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